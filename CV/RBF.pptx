
<file path=[Content_Types].xml><?xml version="1.0" encoding="utf-8"?>
<Types xmlns="http://schemas.openxmlformats.org/package/2006/content-types">
  <Default Extension="bin" ContentType="application/vnd.openxmlformats-officedocument.oleObject"/>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14" r:id="rId4"/>
  </p:sldMasterIdLst>
  <p:notesMasterIdLst>
    <p:notesMasterId r:id="rId6"/>
  </p:notesMasterIdLst>
  <p:handoutMasterIdLst>
    <p:handoutMasterId r:id="rId7"/>
  </p:handoutMasterIdLst>
  <p:sldIdLst>
    <p:sldId id="2147480644" r:id="rId5"/>
  </p:sldIdLst>
  <p:sldSz cx="12192000" cy="6858000"/>
  <p:notesSz cx="6858000" cy="9144000"/>
  <p:custDataLst>
    <p:tags r:id="rId8"/>
  </p:custDataLst>
  <p:defaultText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5" orient="horz" pos="2341" userDrawn="1">
          <p15:clr>
            <a:srgbClr val="A4A3A4"/>
          </p15:clr>
        </p15:guide>
        <p15:guide id="6"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heeler, Scott" initials="WS" lastIdx="9" clrIdx="0">
    <p:extLst>
      <p:ext uri="{19B8F6BF-5375-455C-9EA6-DF929625EA0E}">
        <p15:presenceInfo xmlns:p15="http://schemas.microsoft.com/office/powerpoint/2012/main" userId="S::scott.wheeler@capgemini.com::197b48de-3d2f-4ab4-9492-85eadd3871f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A80"/>
    <a:srgbClr val="2B0A3D"/>
    <a:srgbClr val="ECECEC"/>
    <a:srgbClr val="0F878A"/>
    <a:srgbClr val="14596B"/>
    <a:srgbClr val="A6A6A6"/>
    <a:srgbClr val="57CF80"/>
    <a:srgbClr val="12ABDB"/>
    <a:srgbClr val="E30021"/>
    <a:srgbClr val="007D7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539" autoAdjust="0"/>
    <p:restoredTop sz="94660"/>
  </p:normalViewPr>
  <p:slideViewPr>
    <p:cSldViewPr snapToGrid="0">
      <p:cViewPr varScale="1">
        <p:scale>
          <a:sx n="83" d="100"/>
          <a:sy n="83" d="100"/>
        </p:scale>
        <p:origin x="725" y="48"/>
      </p:cViewPr>
      <p:guideLst>
        <p:guide orient="horz" pos="2341"/>
        <p:guide pos="3840"/>
      </p:guideLst>
    </p:cSldViewPr>
  </p:slideViewPr>
  <p:notesTextViewPr>
    <p:cViewPr>
      <p:scale>
        <a:sx n="1" d="1"/>
        <a:sy n="1" d="1"/>
      </p:scale>
      <p:origin x="0" y="0"/>
    </p:cViewPr>
  </p:notesTextViewPr>
  <p:notesViewPr>
    <p:cSldViewPr snapToGrid="0">
      <p:cViewPr varScale="1">
        <p:scale>
          <a:sx n="62" d="100"/>
          <a:sy n="62" d="100"/>
        </p:scale>
        <p:origin x="322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handoutMaster" Target="handoutMasters/handoutMaster1.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D8B6225-3E94-4525-8747-A8CEEE07C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PT" sz="900"/>
          </a:p>
        </p:txBody>
      </p:sp>
      <p:sp>
        <p:nvSpPr>
          <p:cNvPr id="3" name="Date Placeholder 2">
            <a:extLst>
              <a:ext uri="{FF2B5EF4-FFF2-40B4-BE49-F238E27FC236}">
                <a16:creationId xmlns:a16="http://schemas.microsoft.com/office/drawing/2014/main" id="{1EE33FD8-B984-44FE-83F0-5C989EE6249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C988DC-9DE3-4390-97AB-D61B85DACE57}" type="datetimeFigureOut">
              <a:rPr lang="pt-PT" sz="900" smtClean="0"/>
              <a:pPr/>
              <a:t>12/12/2025</a:t>
            </a:fld>
            <a:endParaRPr lang="pt-PT" sz="900"/>
          </a:p>
        </p:txBody>
      </p:sp>
      <p:sp>
        <p:nvSpPr>
          <p:cNvPr id="4" name="Footer Placeholder 3">
            <a:extLst>
              <a:ext uri="{FF2B5EF4-FFF2-40B4-BE49-F238E27FC236}">
                <a16:creationId xmlns:a16="http://schemas.microsoft.com/office/drawing/2014/main" id="{88AD1E4F-EFF7-4551-A0B7-35D2A74F4F4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pt-PT" sz="900"/>
          </a:p>
        </p:txBody>
      </p:sp>
      <p:sp>
        <p:nvSpPr>
          <p:cNvPr id="5" name="Slide Number Placeholder 4">
            <a:extLst>
              <a:ext uri="{FF2B5EF4-FFF2-40B4-BE49-F238E27FC236}">
                <a16:creationId xmlns:a16="http://schemas.microsoft.com/office/drawing/2014/main" id="{5C3F35C8-35E9-48DD-971F-B2366CC5B7D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F190BF9-40D8-49B5-87EF-599BB2C7EE93}" type="slidenum">
              <a:rPr lang="pt-PT" sz="900" smtClean="0"/>
              <a:pPr/>
              <a:t>‹#›</a:t>
            </a:fld>
            <a:endParaRPr lang="pt-PT" sz="900"/>
          </a:p>
        </p:txBody>
      </p:sp>
    </p:spTree>
    <p:extLst>
      <p:ext uri="{BB962C8B-B14F-4D97-AF65-F5344CB8AC3E}">
        <p14:creationId xmlns:p14="http://schemas.microsoft.com/office/powerpoint/2010/main" val="36093076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Posição do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900"/>
            </a:lvl1pPr>
          </a:lstStyle>
          <a:p>
            <a:endParaRPr lang="pt-BR"/>
          </a:p>
        </p:txBody>
      </p:sp>
      <p:sp>
        <p:nvSpPr>
          <p:cNvPr id="3" name="Marcador de Posição d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900"/>
            </a:lvl1pPr>
          </a:lstStyle>
          <a:p>
            <a:fld id="{0835B8F7-DAC4-4931-8AED-4356A8B2FD64}" type="datetimeFigureOut">
              <a:rPr lang="pt-BR" smtClean="0"/>
              <a:pPr/>
              <a:t>12/12/2025</a:t>
            </a:fld>
            <a:endParaRPr lang="pt-BR"/>
          </a:p>
        </p:txBody>
      </p:sp>
      <p:sp>
        <p:nvSpPr>
          <p:cNvPr id="4" name="Marcador de Posição da Imagem do Diapositivo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Marcador de Posição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PT"/>
              <a:t>Insert comments</a:t>
            </a:r>
            <a:endParaRPr lang="pt-BR"/>
          </a:p>
        </p:txBody>
      </p:sp>
      <p:sp>
        <p:nvSpPr>
          <p:cNvPr id="6" name="Marcador de Posição do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900"/>
            </a:lvl1pPr>
          </a:lstStyle>
          <a:p>
            <a:endParaRPr lang="pt-BR"/>
          </a:p>
        </p:txBody>
      </p:sp>
      <p:sp>
        <p:nvSpPr>
          <p:cNvPr id="7" name="Marcador de Posição do Número do Diapositivo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900"/>
            </a:lvl1pPr>
          </a:lstStyle>
          <a:p>
            <a:fld id="{C0696B5C-12A0-4042-B4D0-BD3B9A4F58C6}" type="slidenum">
              <a:rPr lang="pt-BR" smtClean="0"/>
              <a:pPr/>
              <a:t>‹#›</a:t>
            </a:fld>
            <a:endParaRPr lang="pt-BR"/>
          </a:p>
        </p:txBody>
      </p:sp>
    </p:spTree>
    <p:extLst>
      <p:ext uri="{BB962C8B-B14F-4D97-AF65-F5344CB8AC3E}">
        <p14:creationId xmlns:p14="http://schemas.microsoft.com/office/powerpoint/2010/main" val="1575338179"/>
      </p:ext>
    </p:extLst>
  </p:cSld>
  <p:clrMap bg1="lt1" tx1="dk1" bg2="lt2" tx2="dk2" accent1="accent1" accent2="accent2" accent3="accent3" accent4="accent4" accent5="accent5" accent6="accent6" hlink="hlink" folHlink="folHlink"/>
  <p:notesStyle>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CAPITAL TITLE ONLY">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1ED280F-765A-1F56-D5A9-32F3A479D0CE}"/>
              </a:ext>
            </a:extLst>
          </p:cNvPr>
          <p:cNvSpPr/>
          <p:nvPr userDrawn="1"/>
        </p:nvSpPr>
        <p:spPr>
          <a:xfrm>
            <a:off x="1" y="0"/>
            <a:ext cx="4060371"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58" rtl="0" eaLnBrk="1" fontAlgn="auto" latinLnBrk="0" hangingPunct="1">
              <a:lnSpc>
                <a:spcPct val="100000"/>
              </a:lnSpc>
              <a:spcBef>
                <a:spcPts val="0"/>
              </a:spcBef>
              <a:spcAft>
                <a:spcPts val="0"/>
              </a:spcAft>
              <a:buClrTx/>
              <a:buSzTx/>
              <a:buFontTx/>
              <a:buNone/>
              <a:tabLst/>
              <a:defRPr/>
            </a:pPr>
            <a:endParaRPr kumimoji="0" lang="en-GB" sz="1600" b="0" i="0" u="none" strike="noStrike" kern="1200" cap="none" spc="0" normalizeH="0" baseline="0" noProof="0">
              <a:ln>
                <a:noFill/>
              </a:ln>
              <a:solidFill>
                <a:prstClr val="white"/>
              </a:solidFill>
              <a:effectLst/>
              <a:uLnTx/>
              <a:uFillTx/>
              <a:latin typeface="Ubuntu" panose="020B0504030602030204" pitchFamily="34" charset="0"/>
              <a:ea typeface="+mn-ea"/>
              <a:cs typeface="+mn-cs"/>
            </a:endParaRPr>
          </a:p>
        </p:txBody>
      </p:sp>
      <p:sp>
        <p:nvSpPr>
          <p:cNvPr id="5" name="Rectangle: Top Corners Rounded 4">
            <a:extLst>
              <a:ext uri="{FF2B5EF4-FFF2-40B4-BE49-F238E27FC236}">
                <a16:creationId xmlns:a16="http://schemas.microsoft.com/office/drawing/2014/main" id="{2440DD15-7A77-5E6C-7502-E124DC47709C}"/>
              </a:ext>
            </a:extLst>
          </p:cNvPr>
          <p:cNvSpPr/>
          <p:nvPr userDrawn="1"/>
        </p:nvSpPr>
        <p:spPr>
          <a:xfrm rot="5400000">
            <a:off x="1599746" y="-1035427"/>
            <a:ext cx="512539" cy="3712028"/>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0" tIns="0" rIns="0" bIns="274301" rtlCol="0" anchor="ctr"/>
          <a:lstStyle/>
          <a:p>
            <a:pPr>
              <a:defRPr/>
            </a:pPr>
            <a:endParaRPr kumimoji="0" lang="en-GB" sz="1600" b="1" i="0" u="none" strike="noStrike" kern="1200" cap="none" spc="0" normalizeH="0" baseline="0" noProof="0">
              <a:ln>
                <a:noFill/>
              </a:ln>
              <a:solidFill>
                <a:prstClr val="white"/>
              </a:solidFill>
              <a:effectLst/>
              <a:uLnTx/>
              <a:uFillTx/>
              <a:latin typeface="Ubuntu" panose="020B0504030602030204" pitchFamily="34" charset="0"/>
              <a:ea typeface="+mn-ea"/>
              <a:cs typeface="+mn-cs"/>
            </a:endParaRPr>
          </a:p>
        </p:txBody>
      </p:sp>
      <p:sp>
        <p:nvSpPr>
          <p:cNvPr id="8" name="Rectangle 27">
            <a:extLst>
              <a:ext uri="{FF2B5EF4-FFF2-40B4-BE49-F238E27FC236}">
                <a16:creationId xmlns:a16="http://schemas.microsoft.com/office/drawing/2014/main" id="{3372B03E-174C-6696-65D5-CB0740714F91}"/>
              </a:ext>
            </a:extLst>
          </p:cNvPr>
          <p:cNvSpPr/>
          <p:nvPr userDrawn="1"/>
        </p:nvSpPr>
        <p:spPr>
          <a:xfrm>
            <a:off x="-139708" y="6629322"/>
            <a:ext cx="3410847" cy="219456"/>
          </a:xfrm>
          <a:prstGeom prst="rect">
            <a:avLst/>
          </a:prstGeom>
        </p:spPr>
        <p:txBody>
          <a:bodyPr wrap="square" lIns="0" tIns="0" rIns="0" bIns="0" anchor="ctr" anchorCtr="0">
            <a:noAutofit/>
          </a:bodyPr>
          <a:lstStyle/>
          <a:p>
            <a:pPr marL="0" marR="0" lvl="0" indent="0" algn="ctr" defTabSz="914358" rtl="0" eaLnBrk="1" fontAlgn="auto" latinLnBrk="0" hangingPunct="1">
              <a:lnSpc>
                <a:spcPct val="100000"/>
              </a:lnSpc>
              <a:spcBef>
                <a:spcPts val="0"/>
              </a:spcBef>
              <a:spcAft>
                <a:spcPts val="0"/>
              </a:spcAft>
              <a:buClrTx/>
              <a:buSzTx/>
              <a:buFontTx/>
              <a:buNone/>
              <a:tabLst/>
              <a:defRPr/>
            </a:pPr>
            <a:endParaRPr lang="en-IN" sz="700" i="1" kern="0">
              <a:solidFill>
                <a:schemeClr val="bg1">
                  <a:lumMod val="75000"/>
                </a:schemeClr>
              </a:solidFill>
              <a:latin typeface="Ubuntu" panose="020B0504030602030204" pitchFamily="34" charset="0"/>
              <a:cs typeface="Arial" panose="020B0604020202020204" pitchFamily="34" charset="0"/>
            </a:endParaRPr>
          </a:p>
        </p:txBody>
      </p:sp>
      <p:sp>
        <p:nvSpPr>
          <p:cNvPr id="3" name="Footer Placeholder 2">
            <a:extLst>
              <a:ext uri="{FF2B5EF4-FFF2-40B4-BE49-F238E27FC236}">
                <a16:creationId xmlns:a16="http://schemas.microsoft.com/office/drawing/2014/main" id="{3437CD22-1D5A-0243-CE53-4087E878238F}"/>
              </a:ext>
            </a:extLst>
          </p:cNvPr>
          <p:cNvSpPr>
            <a:spLocks noGrp="1"/>
          </p:cNvSpPr>
          <p:nvPr>
            <p:ph type="ftr" sz="quarter" idx="10"/>
          </p:nvPr>
        </p:nvSpPr>
        <p:spPr>
          <a:xfrm>
            <a:off x="8699239" y="6583279"/>
            <a:ext cx="3492761" cy="253158"/>
          </a:xfrm>
        </p:spPr>
        <p:txBody>
          <a:bodyPr/>
          <a:lstStyle/>
          <a:p>
            <a:r>
              <a:rPr lang="pl-PL"/>
              <a:t>Company Confdential </a:t>
            </a:r>
            <a:r>
              <a:rPr lang="en-US"/>
              <a:t>© Capgemini 2024. All rights reserved</a:t>
            </a:r>
            <a:endParaRPr lang="pl-PL"/>
          </a:p>
        </p:txBody>
      </p:sp>
    </p:spTree>
    <p:extLst>
      <p:ext uri="{BB962C8B-B14F-4D97-AF65-F5344CB8AC3E}">
        <p14:creationId xmlns:p14="http://schemas.microsoft.com/office/powerpoint/2010/main" val="198556849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ags" Target="../tags/tag2.xml"/><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1.emf"/><Relationship Id="rId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21" name="Object 20" hidden="1"/>
          <p:cNvGraphicFramePr>
            <a:graphicFrameLocks noChangeAspect="1"/>
          </p:cNvGraphicFramePr>
          <p:nvPr>
            <p:custDataLst>
              <p:tags r:id="rId3"/>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4" imgW="270" imgH="270" progId="TCLayout.ActiveDocument.1">
                  <p:embed/>
                </p:oleObj>
              </mc:Choice>
              <mc:Fallback>
                <p:oleObj name="think-cell Slide" r:id="rId4" imgW="270" imgH="270" progId="TCLayout.ActiveDocument.1">
                  <p:embed/>
                  <p:pic>
                    <p:nvPicPr>
                      <p:cNvPr id="21" name="Object 20" hidden="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314978218"/>
      </p:ext>
    </p:extLst>
  </p:cSld>
  <p:clrMap bg1="lt1" tx1="dk1" bg2="lt2" tx2="dk2" accent1="accent1" accent2="accent2" accent3="accent3" accent4="accent4" accent5="accent5" accent6="accent6" hlink="hlink" folHlink="folHlink"/>
  <p:sldLayoutIdLst>
    <p:sldLayoutId id="2147483963" r:id="rId1"/>
  </p:sldLayoutIdLst>
  <p:hf sldNum="0" hdr="0" dt="0"/>
  <p:txStyles>
    <p:titleStyle>
      <a:lvl1pPr marL="0" marR="0" indent="0" algn="l" defTabSz="914400" rtl="0" eaLnBrk="1" fontAlgn="auto" latinLnBrk="0" hangingPunct="1">
        <a:lnSpc>
          <a:spcPct val="90000"/>
        </a:lnSpc>
        <a:spcBef>
          <a:spcPct val="0"/>
        </a:spcBef>
        <a:spcAft>
          <a:spcPts val="0"/>
        </a:spcAft>
        <a:buClrTx/>
        <a:buSzTx/>
        <a:buFontTx/>
        <a:buNone/>
        <a:tabLst/>
        <a:defRPr kumimoji="0" lang="en-US" sz="3000" b="0" i="0" u="none" strike="noStrike" kern="1200" cap="none" spc="0" normalizeH="0" baseline="0" noProof="0" dirty="0">
          <a:ln>
            <a:noFill/>
          </a:ln>
          <a:solidFill>
            <a:schemeClr val="accent1"/>
          </a:solidFill>
          <a:effectLst/>
          <a:uLnTx/>
          <a:uFillTx/>
          <a:latin typeface="+mj-lt"/>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tx1"/>
          </a:solidFill>
          <a:latin typeface="+mj-lt"/>
          <a:ea typeface="+mn-ea"/>
          <a:cs typeface="+mn-cs"/>
        </a:defRPr>
      </a:lvl1pPr>
      <a:lvl2pPr marL="539750" indent="-179388"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j-lt"/>
          <a:ea typeface="+mn-ea"/>
          <a:cs typeface="+mn-cs"/>
        </a:defRPr>
      </a:lvl2pPr>
      <a:lvl3pPr marL="900113" indent="-179388" algn="l" defTabSz="914400" rtl="0" eaLnBrk="1" latinLnBrk="0" hangingPunct="1">
        <a:lnSpc>
          <a:spcPct val="90000"/>
        </a:lnSpc>
        <a:spcBef>
          <a:spcPts val="500"/>
        </a:spcBef>
        <a:buClr>
          <a:schemeClr val="accent2"/>
        </a:buClr>
        <a:buFont typeface="Arial" panose="020B0604020202020204" pitchFamily="34" charset="0"/>
        <a:buChar char="•"/>
        <a:defRPr sz="1600" kern="1200">
          <a:solidFill>
            <a:schemeClr val="tx1"/>
          </a:solidFill>
          <a:latin typeface="+mj-lt"/>
          <a:ea typeface="+mn-ea"/>
          <a:cs typeface="+mn-cs"/>
        </a:defRPr>
      </a:lvl3pPr>
      <a:lvl4pPr marL="1260475" indent="-179388" algn="l" defTabSz="914400" rtl="0" eaLnBrk="1" latinLnBrk="0" hangingPunct="1">
        <a:lnSpc>
          <a:spcPct val="90000"/>
        </a:lnSpc>
        <a:spcBef>
          <a:spcPts val="500"/>
        </a:spcBef>
        <a:buClr>
          <a:schemeClr val="accent3"/>
        </a:buClr>
        <a:buFont typeface="Arial" panose="020B0604020202020204" pitchFamily="34" charset="0"/>
        <a:buChar char="•"/>
        <a:defRPr sz="1400" kern="1200">
          <a:solidFill>
            <a:schemeClr val="tx1"/>
          </a:solidFill>
          <a:latin typeface="+mj-lt"/>
          <a:ea typeface="+mn-ea"/>
          <a:cs typeface="+mn-cs"/>
        </a:defRPr>
      </a:lvl4pPr>
      <a:lvl5pPr marL="1620838" indent="-179388" algn="l" defTabSz="914400" rtl="0" eaLnBrk="1" latinLnBrk="0" hangingPunct="1">
        <a:lnSpc>
          <a:spcPct val="90000"/>
        </a:lnSpc>
        <a:spcBef>
          <a:spcPts val="500"/>
        </a:spcBef>
        <a:buClr>
          <a:schemeClr val="accent5"/>
        </a:buClr>
        <a:buFont typeface="Arial" panose="020B0604020202020204" pitchFamily="34" charset="0"/>
        <a:buChar char="•"/>
        <a:defRPr sz="14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4070" userDrawn="1">
          <p15:clr>
            <a:srgbClr val="F26B43"/>
          </p15:clr>
        </p15:guide>
        <p15:guide id="4" pos="3840" userDrawn="1">
          <p15:clr>
            <a:srgbClr val="F26B43"/>
          </p15:clr>
        </p15:guide>
        <p15:guide id="5" pos="255" userDrawn="1">
          <p15:clr>
            <a:srgbClr val="F26B43"/>
          </p15:clr>
        </p15:guide>
        <p15:guide id="6" pos="7423" userDrawn="1">
          <p15:clr>
            <a:srgbClr val="F26B43"/>
          </p15:clr>
        </p15:guide>
        <p15:guide id="7" orient="horz" pos="245" userDrawn="1">
          <p15:clr>
            <a:srgbClr val="F26B43"/>
          </p15:clr>
        </p15:guide>
        <p15:guide id="8" orient="horz" pos="706" userDrawn="1">
          <p15:clr>
            <a:srgbClr val="F26B43"/>
          </p15:clr>
        </p15:guide>
        <p15:guide id="9" orient="horz" pos="83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Top Corners Rounded 24">
            <a:extLst>
              <a:ext uri="{FF2B5EF4-FFF2-40B4-BE49-F238E27FC236}">
                <a16:creationId xmlns:a16="http://schemas.microsoft.com/office/drawing/2014/main" id="{F2A58D31-2209-409D-863D-655D6087DBD0}"/>
              </a:ext>
            </a:extLst>
          </p:cNvPr>
          <p:cNvSpPr/>
          <p:nvPr/>
        </p:nvSpPr>
        <p:spPr>
          <a:xfrm rot="5400000">
            <a:off x="1694645" y="-1098172"/>
            <a:ext cx="512503" cy="3837886"/>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vert="vert270" lIns="0" tIns="0" rIns="0" bIns="274301" rtlCol="0" anchor="ctr"/>
          <a:lstStyle/>
          <a:p>
            <a:pPr lvl="0" defTabSz="914358">
              <a:defRPr/>
            </a:pPr>
            <a:r>
              <a:rPr lang="en-GB" sz="1600" dirty="0">
                <a:solidFill>
                  <a:srgbClr val="FFFFFF"/>
                </a:solidFill>
              </a:rPr>
              <a:t>ROBERT BUZABRICI-FILIPESCU</a:t>
            </a:r>
            <a:endParaRPr kumimoji="0" lang="en-GB" sz="1600" b="1" i="0" u="none" strike="noStrike" kern="1200" cap="none" spc="0" normalizeH="0" baseline="0" noProof="0" dirty="0">
              <a:ln>
                <a:noFill/>
              </a:ln>
              <a:solidFill>
                <a:prstClr val="white"/>
              </a:solidFill>
              <a:effectLst/>
              <a:uLnTx/>
              <a:uFillTx/>
              <a:latin typeface="Ubuntu" panose="020B0504030602030204" pitchFamily="34" charset="0"/>
              <a:ea typeface="+mn-ea"/>
              <a:cs typeface="+mn-cs"/>
            </a:endParaRPr>
          </a:p>
        </p:txBody>
      </p:sp>
      <p:sp>
        <p:nvSpPr>
          <p:cNvPr id="27" name="Rectangle 26">
            <a:extLst>
              <a:ext uri="{FF2B5EF4-FFF2-40B4-BE49-F238E27FC236}">
                <a16:creationId xmlns:a16="http://schemas.microsoft.com/office/drawing/2014/main" id="{81918A9A-000F-4219-B8A2-364665AC09BE}"/>
              </a:ext>
            </a:extLst>
          </p:cNvPr>
          <p:cNvSpPr/>
          <p:nvPr/>
        </p:nvSpPr>
        <p:spPr>
          <a:xfrm>
            <a:off x="4077178" y="492896"/>
            <a:ext cx="2826873" cy="165746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t"/>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2" indent="0" algn="just" defTabSz="957712" rtl="0" eaLnBrk="1" fontAlgn="auto" latinLnBrk="0" hangingPunct="1">
              <a:lnSpc>
                <a:spcPct val="100000"/>
              </a:lnSpc>
              <a:spcBef>
                <a:spcPts val="600"/>
              </a:spcBef>
              <a:spcAft>
                <a:spcPts val="0"/>
              </a:spcAft>
              <a:buClr>
                <a:srgbClr val="0098C7"/>
              </a:buClr>
              <a:buSzTx/>
              <a:buFontTx/>
              <a:buNone/>
              <a:tabLst/>
              <a:defRPr/>
            </a:pPr>
            <a:r>
              <a:rPr lang="en-US" sz="1050" dirty="0">
                <a:solidFill>
                  <a:prstClr val="black"/>
                </a:solidFill>
                <a:latin typeface="Ubuntu" panose="020B0504030602030204" pitchFamily="34" charset="0"/>
                <a:ea typeface="Verdana"/>
              </a:rPr>
              <a:t>Senior Embedded Software Engineer with 13+ years of experience in automotive and space‑grade systems. Specialized in instrument cluster development, CAN communication, and AUTOSAR‑based platforms. Proven record of delivering high‑performance embedded solutions for OEMs including Daimler, Ford, Renault, Volkswagen, Porsche, and Audi. Strong focus on reliability, real‑time performance, and technical leadership.</a:t>
            </a:r>
          </a:p>
        </p:txBody>
      </p:sp>
      <p:sp>
        <p:nvSpPr>
          <p:cNvPr id="33" name="Rectangle 32">
            <a:extLst>
              <a:ext uri="{FF2B5EF4-FFF2-40B4-BE49-F238E27FC236}">
                <a16:creationId xmlns:a16="http://schemas.microsoft.com/office/drawing/2014/main" id="{B102D15C-7FAA-4CA6-A332-7B354179C5B9}"/>
              </a:ext>
            </a:extLst>
          </p:cNvPr>
          <p:cNvSpPr/>
          <p:nvPr/>
        </p:nvSpPr>
        <p:spPr>
          <a:xfrm>
            <a:off x="4141430" y="5925988"/>
            <a:ext cx="2746721" cy="932012"/>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t"/>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2" indent="-144000" algn="just" defTabSz="844044" rtl="0" eaLnBrk="1" fontAlgn="base" latinLnBrk="0" hangingPunct="1">
              <a:spcAft>
                <a:spcPts val="0"/>
              </a:spcAft>
              <a:buClr>
                <a:srgbClr val="272936"/>
              </a:buClr>
              <a:buSzPct val="100000"/>
              <a:buFont typeface="Wingdings" panose="05000000000000000000" pitchFamily="2" charset="2"/>
              <a:buChar char="§"/>
              <a:tabLst/>
              <a:defRPr/>
            </a:pPr>
            <a:r>
              <a:rPr lang="en-US" sz="1000" dirty="0">
                <a:solidFill>
                  <a:prstClr val="black"/>
                </a:solidFill>
                <a:latin typeface="Ubuntu" panose="020B0504030602030204" pitchFamily="34" charset="0"/>
                <a:ea typeface="Verdana"/>
              </a:rPr>
              <a:t>Classic </a:t>
            </a:r>
            <a:r>
              <a:rPr lang="en-US" sz="1000" dirty="0" err="1">
                <a:solidFill>
                  <a:prstClr val="black"/>
                </a:solidFill>
                <a:latin typeface="Ubuntu" panose="020B0504030602030204" pitchFamily="34" charset="0"/>
                <a:ea typeface="Verdana"/>
              </a:rPr>
              <a:t>Autosar</a:t>
            </a:r>
            <a:r>
              <a:rPr lang="en-US" sz="1000" dirty="0">
                <a:solidFill>
                  <a:prstClr val="black"/>
                </a:solidFill>
                <a:latin typeface="Ubuntu" panose="020B0504030602030204" pitchFamily="34" charset="0"/>
                <a:ea typeface="Verdana"/>
              </a:rPr>
              <a:t> (Vector Certified Embedded Associate)</a:t>
            </a:r>
          </a:p>
          <a:p>
            <a:pPr marL="0" marR="0" lvl="2" indent="-144000" algn="just" defTabSz="844044" rtl="0" eaLnBrk="1" fontAlgn="base" latinLnBrk="0" hangingPunct="1">
              <a:spcAft>
                <a:spcPts val="0"/>
              </a:spcAft>
              <a:buClr>
                <a:srgbClr val="272936"/>
              </a:buClr>
              <a:buSzPct val="100000"/>
              <a:buFont typeface="Wingdings" panose="05000000000000000000" pitchFamily="2" charset="2"/>
              <a:buChar char="§"/>
              <a:tabLst/>
              <a:defRPr/>
            </a:pPr>
            <a:r>
              <a:rPr lang="en-US" sz="1000" dirty="0" err="1">
                <a:solidFill>
                  <a:prstClr val="black"/>
                </a:solidFill>
                <a:latin typeface="Ubuntu" panose="020B0504030602030204" pitchFamily="34" charset="0"/>
                <a:ea typeface="Verdana"/>
              </a:rPr>
              <a:t>Classic&amp;Adaptive</a:t>
            </a:r>
            <a:r>
              <a:rPr lang="en-US" sz="1000" dirty="0">
                <a:solidFill>
                  <a:prstClr val="black"/>
                </a:solidFill>
                <a:latin typeface="Ubuntu" panose="020B0504030602030204" pitchFamily="34" charset="0"/>
                <a:ea typeface="Verdana"/>
              </a:rPr>
              <a:t> AUTOSAR using EB Tressos</a:t>
            </a:r>
          </a:p>
          <a:p>
            <a:pPr marL="0" marR="0" lvl="2" indent="-144000" algn="just" defTabSz="844044" rtl="0" eaLnBrk="1" fontAlgn="base" latinLnBrk="0" hangingPunct="1">
              <a:spcAft>
                <a:spcPts val="0"/>
              </a:spcAft>
              <a:buClr>
                <a:srgbClr val="272936"/>
              </a:buClr>
              <a:buSzPct val="100000"/>
              <a:buFont typeface="Wingdings" panose="05000000000000000000" pitchFamily="2" charset="2"/>
              <a:buChar char="§"/>
              <a:tabLst/>
              <a:defRPr/>
            </a:pPr>
            <a:r>
              <a:rPr lang="en-US" sz="1000" dirty="0">
                <a:solidFill>
                  <a:prstClr val="black"/>
                </a:solidFill>
                <a:latin typeface="Ubuntu" panose="020B0504030602030204" pitchFamily="34" charset="0"/>
                <a:ea typeface="Verdana"/>
              </a:rPr>
              <a:t>Master in Communication Networks</a:t>
            </a:r>
          </a:p>
          <a:p>
            <a:pPr marL="0" lvl="2" indent="-144000" algn="just" defTabSz="844044" fontAlgn="base">
              <a:buClr>
                <a:srgbClr val="272936"/>
              </a:buClr>
              <a:buSzPct val="100000"/>
              <a:buFont typeface="Wingdings" panose="05000000000000000000" pitchFamily="2" charset="2"/>
              <a:buChar char="§"/>
              <a:defRPr/>
            </a:pPr>
            <a:r>
              <a:rPr lang="en-GB" sz="1000" dirty="0">
                <a:solidFill>
                  <a:prstClr val="black"/>
                </a:solidFill>
                <a:cs typeface="Arial" charset="0"/>
              </a:rPr>
              <a:t>Capgemini L2 Automotive Industry Certification</a:t>
            </a:r>
          </a:p>
          <a:p>
            <a:pPr marL="171442" marR="0" lvl="2" indent="-171442" algn="l" defTabSz="844044" rtl="0" eaLnBrk="1" fontAlgn="base" latinLnBrk="0" hangingPunct="1">
              <a:lnSpc>
                <a:spcPct val="100000"/>
              </a:lnSpc>
              <a:spcBef>
                <a:spcPts val="600"/>
              </a:spcBef>
              <a:spcAft>
                <a:spcPts val="0"/>
              </a:spcAft>
              <a:buClr>
                <a:srgbClr val="272936"/>
              </a:buClr>
              <a:buSzPct val="100000"/>
              <a:buFont typeface="Wingdings" panose="05000000000000000000" pitchFamily="2" charset="2"/>
              <a:buChar char="§"/>
              <a:tabLst/>
              <a:defRPr/>
            </a:pPr>
            <a:endParaRPr lang="en-US" sz="1000" dirty="0">
              <a:solidFill>
                <a:prstClr val="black"/>
              </a:solidFill>
              <a:latin typeface="Ubuntu" panose="020B0504030602030204" pitchFamily="34" charset="0"/>
              <a:ea typeface="Verdana"/>
            </a:endParaRPr>
          </a:p>
        </p:txBody>
      </p:sp>
      <p:sp>
        <p:nvSpPr>
          <p:cNvPr id="34" name="Rectangle 33">
            <a:extLst>
              <a:ext uri="{FF2B5EF4-FFF2-40B4-BE49-F238E27FC236}">
                <a16:creationId xmlns:a16="http://schemas.microsoft.com/office/drawing/2014/main" id="{8C47310E-2F25-4FEE-AF95-CA36238A2C36}"/>
              </a:ext>
            </a:extLst>
          </p:cNvPr>
          <p:cNvSpPr/>
          <p:nvPr/>
        </p:nvSpPr>
        <p:spPr>
          <a:xfrm>
            <a:off x="7095489" y="480577"/>
            <a:ext cx="4687144" cy="6227286"/>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t"/>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Ubuntu"/>
                <a:ea typeface="+mn-ea"/>
                <a:cs typeface="+mn-cs"/>
              </a:rPr>
              <a:t>      Senior Embedded Software Engineer / Tech Lead Replacement </a:t>
            </a:r>
            <a:r>
              <a:rPr kumimoji="0" lang="en-US" sz="900" i="0" u="none" strike="noStrike" kern="1200" cap="none" spc="0" normalizeH="0" baseline="0" noProof="0" dirty="0">
                <a:ln>
                  <a:noFill/>
                </a:ln>
                <a:solidFill>
                  <a:prstClr val="black"/>
                </a:solidFill>
                <a:effectLst/>
                <a:uLnTx/>
                <a:uFillTx/>
                <a:latin typeface="Ubuntu"/>
                <a:ea typeface="+mn-ea"/>
                <a:cs typeface="+mn-cs"/>
              </a:rPr>
              <a:t>@ Capgemini Services Romania SRL (Capgemini Engineering)</a:t>
            </a:r>
          </a:p>
          <a:p>
            <a:pPr marL="0" marR="0" lvl="0" indent="0" algn="just" defTabSz="914400" rtl="0" eaLnBrk="1" fontAlgn="auto" latinLnBrk="0" hangingPunct="1">
              <a:lnSpc>
                <a:spcPct val="100000"/>
              </a:lnSpc>
              <a:spcBef>
                <a:spcPts val="0"/>
              </a:spcBef>
              <a:spcAft>
                <a:spcPts val="0"/>
              </a:spcAft>
              <a:buClrTx/>
              <a:buSzTx/>
              <a:buFontTx/>
              <a:buNone/>
              <a:tabLst/>
              <a:defRPr/>
            </a:pPr>
            <a:r>
              <a:rPr lang="en-US" sz="900" b="0" dirty="0">
                <a:solidFill>
                  <a:prstClr val="black"/>
                </a:solidFill>
                <a:latin typeface="Ubuntu"/>
              </a:rPr>
              <a:t>   </a:t>
            </a:r>
            <a:r>
              <a:rPr kumimoji="0" lang="en-US" sz="900" b="0" i="0" u="none" strike="noStrike" kern="1200" cap="none" spc="0" normalizeH="0" baseline="0" noProof="0" dirty="0">
                <a:ln>
                  <a:noFill/>
                </a:ln>
                <a:solidFill>
                  <a:prstClr val="black"/>
                </a:solidFill>
                <a:effectLst/>
                <a:uLnTx/>
                <a:uFillTx/>
                <a:latin typeface="Ubuntu"/>
                <a:ea typeface="+mn-ea"/>
                <a:cs typeface="+mn-cs"/>
              </a:rPr>
              <a:t>   </a:t>
            </a:r>
            <a:r>
              <a:rPr kumimoji="0" lang="en-US" sz="900" b="0" i="1" u="none" strike="noStrike" kern="1200" cap="none" spc="0" normalizeH="0" baseline="0" noProof="0" dirty="0">
                <a:ln>
                  <a:noFill/>
                </a:ln>
                <a:solidFill>
                  <a:prstClr val="black"/>
                </a:solidFill>
                <a:effectLst/>
                <a:uLnTx/>
                <a:uFillTx/>
                <a:latin typeface="Ubuntu"/>
                <a:ea typeface="+mn-ea"/>
                <a:cs typeface="+mn-cs"/>
              </a:rPr>
              <a:t>(Apr 2022 – Nov 2025)</a:t>
            </a:r>
            <a:endParaRPr kumimoji="0" lang="en-US" sz="900" b="0" i="0" u="none" strike="noStrike" kern="1200" cap="none" spc="0" normalizeH="0" baseline="0" noProof="0" dirty="0">
              <a:ln>
                <a:noFill/>
              </a:ln>
              <a:solidFill>
                <a:prstClr val="black"/>
              </a:solidFill>
              <a:effectLst/>
              <a:uLnTx/>
              <a:uFillTx/>
              <a:latin typeface="Ubuntu"/>
              <a:ea typeface="+mn-ea"/>
              <a:cs typeface="+mn-cs"/>
            </a:endParaRP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Optimized embedded modules → 20% memory reduction, improved responsiveness, smoother OEM integration.</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Boosted collaboration → Cut issue resolution time by 30%.</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Enhanced quality → Refined CAPL tests, reducing post‑release bugs by 30%; Google Test improved dependability by 25%.</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Delivered 300+ Git commits with 100% coding standards compliance → 25% less debugging time.</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Technical leadership → Acted as Tech Lead, resolving critical roadblocks, mentoring new members, and maintaining project continuity with direct client engagement.</a:t>
            </a:r>
          </a:p>
          <a:p>
            <a:pPr marR="0" lvl="0" algn="just" defTabSz="914400" rtl="0" eaLnBrk="1" fontAlgn="auto" latinLnBrk="0" hangingPunct="1">
              <a:lnSpc>
                <a:spcPct val="100000"/>
              </a:lnSpc>
              <a:spcBef>
                <a:spcPts val="0"/>
              </a:spcBef>
              <a:spcAft>
                <a:spcPts val="0"/>
              </a:spcAft>
              <a:buClrTx/>
              <a:buSzTx/>
              <a:tabLst/>
              <a:defRPr/>
            </a:pPr>
            <a:r>
              <a:rPr lang="en-US" sz="900" dirty="0">
                <a:solidFill>
                  <a:prstClr val="black"/>
                </a:solidFill>
                <a:latin typeface="Ubuntu"/>
              </a:rPr>
              <a:t>     </a:t>
            </a:r>
            <a:r>
              <a:rPr lang="en-US" sz="900" b="1" dirty="0">
                <a:solidFill>
                  <a:prstClr val="black"/>
                </a:solidFill>
                <a:latin typeface="Ubuntu"/>
              </a:rPr>
              <a:t> </a:t>
            </a:r>
            <a:r>
              <a:rPr kumimoji="0" lang="en-US" sz="900" b="1" i="0" u="none" strike="noStrike" kern="1200" cap="none" spc="0" normalizeH="0" baseline="0" noProof="0" dirty="0">
                <a:ln>
                  <a:noFill/>
                </a:ln>
                <a:solidFill>
                  <a:prstClr val="black"/>
                </a:solidFill>
                <a:effectLst/>
                <a:uLnTx/>
                <a:uFillTx/>
                <a:latin typeface="Ubuntu"/>
                <a:ea typeface="+mn-ea"/>
                <a:cs typeface="+mn-cs"/>
              </a:rPr>
              <a:t>Senior Embedded Software Engineer – Space Platforms</a:t>
            </a:r>
            <a:r>
              <a:rPr kumimoji="0" lang="en-US" sz="900" b="0" i="0" u="none" strike="noStrike" kern="1200" cap="none" spc="0" normalizeH="0" baseline="0" noProof="0" dirty="0">
                <a:ln>
                  <a:noFill/>
                </a:ln>
                <a:solidFill>
                  <a:prstClr val="black"/>
                </a:solidFill>
                <a:effectLst/>
                <a:uLnTx/>
                <a:uFillTx/>
                <a:latin typeface="Ubuntu"/>
                <a:ea typeface="+mn-ea"/>
                <a:cs typeface="+mn-cs"/>
              </a:rPr>
              <a:t> </a:t>
            </a:r>
            <a:r>
              <a:rPr lang="en-US" sz="900" dirty="0">
                <a:solidFill>
                  <a:prstClr val="black"/>
                </a:solidFill>
                <a:latin typeface="Ubuntu"/>
              </a:rPr>
              <a:t>@ ENEA Software Development Services SRL </a:t>
            </a:r>
          </a:p>
          <a:p>
            <a:pPr marR="0" lvl="0" algn="just" defTabSz="914400" rtl="0" eaLnBrk="1" fontAlgn="auto" latinLnBrk="0" hangingPunct="1">
              <a:lnSpc>
                <a:spcPct val="100000"/>
              </a:lnSpc>
              <a:spcBef>
                <a:spcPts val="0"/>
              </a:spcBef>
              <a:spcAft>
                <a:spcPts val="0"/>
              </a:spcAft>
              <a:buClrTx/>
              <a:buSzTx/>
              <a:tabLst/>
              <a:defRPr/>
            </a:pPr>
            <a:r>
              <a:rPr kumimoji="0" lang="en-US" sz="900" b="0" i="1" u="none" strike="noStrike" kern="1200" cap="none" spc="0" normalizeH="0" baseline="0" noProof="0" dirty="0">
                <a:ln>
                  <a:noFill/>
                </a:ln>
                <a:solidFill>
                  <a:prstClr val="black"/>
                </a:solidFill>
                <a:effectLst/>
                <a:uLnTx/>
                <a:uFillTx/>
                <a:latin typeface="Ubuntu"/>
                <a:ea typeface="+mn-ea"/>
                <a:cs typeface="+mn-cs"/>
              </a:rPr>
              <a:t>      (Apr 2021 – Apr 2022)</a:t>
            </a:r>
            <a:endParaRPr kumimoji="0" lang="en-US" sz="900" b="0" i="0" u="none" strike="noStrike" kern="1200" cap="none" spc="0" normalizeH="0" baseline="0" noProof="0" dirty="0">
              <a:ln>
                <a:noFill/>
              </a:ln>
              <a:solidFill>
                <a:prstClr val="black"/>
              </a:solidFill>
              <a:effectLst/>
              <a:uLnTx/>
              <a:uFillTx/>
              <a:latin typeface="Ubuntu"/>
              <a:ea typeface="+mn-ea"/>
              <a:cs typeface="+mn-cs"/>
            </a:endParaRP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Improved real‑time performance → Reduced latency via buffer management &amp; interrupt‑driven design.</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Optimized constrained environments → Worked with Xilinx SDK / Zynq‑7000 SoC (ARM Cortex‑A9).</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Developed space‑grade C/C++ modules → Reliability &amp; fault tolerance focus.</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Engineered </a:t>
            </a:r>
            <a:r>
              <a:rPr kumimoji="0" lang="en-US" sz="900" b="0" i="0" u="none" strike="noStrike" kern="1200" cap="none" spc="0" normalizeH="0" baseline="0" noProof="0" dirty="0" err="1">
                <a:ln>
                  <a:noFill/>
                </a:ln>
                <a:solidFill>
                  <a:prstClr val="black"/>
                </a:solidFill>
                <a:effectLst/>
                <a:uLnTx/>
                <a:uFillTx/>
                <a:latin typeface="Ubuntu"/>
                <a:ea typeface="+mn-ea"/>
                <a:cs typeface="+mn-cs"/>
              </a:rPr>
              <a:t>SpaceWire</a:t>
            </a:r>
            <a:r>
              <a:rPr kumimoji="0" lang="en-US" sz="900" b="0" i="0" u="none" strike="noStrike" kern="1200" cap="none" spc="0" normalizeH="0" baseline="0" noProof="0" dirty="0">
                <a:ln>
                  <a:noFill/>
                </a:ln>
                <a:solidFill>
                  <a:prstClr val="black"/>
                </a:solidFill>
                <a:effectLst/>
                <a:uLnTx/>
                <a:uFillTx/>
                <a:latin typeface="Ubuntu"/>
                <a:ea typeface="+mn-ea"/>
                <a:cs typeface="+mn-cs"/>
              </a:rPr>
              <a:t> driver interface &amp; state machine for </a:t>
            </a:r>
            <a:r>
              <a:rPr kumimoji="0" lang="en-US" sz="900" b="0" i="0" u="none" strike="noStrike" kern="1200" cap="none" spc="0" normalizeH="0" baseline="0" noProof="0" dirty="0" err="1">
                <a:ln>
                  <a:noFill/>
                </a:ln>
                <a:solidFill>
                  <a:prstClr val="black"/>
                </a:solidFill>
                <a:effectLst/>
                <a:uLnTx/>
                <a:uFillTx/>
                <a:latin typeface="Ubuntu"/>
                <a:ea typeface="+mn-ea"/>
                <a:cs typeface="+mn-cs"/>
              </a:rPr>
              <a:t>RendezVous</a:t>
            </a:r>
            <a:r>
              <a:rPr kumimoji="0" lang="en-US" sz="900" b="0" i="0" u="none" strike="noStrike" kern="1200" cap="none" spc="0" normalizeH="0" baseline="0" noProof="0" dirty="0">
                <a:ln>
                  <a:noFill/>
                </a:ln>
                <a:solidFill>
                  <a:prstClr val="black"/>
                </a:solidFill>
                <a:effectLst/>
                <a:uLnTx/>
                <a:uFillTx/>
                <a:latin typeface="Ubuntu"/>
                <a:ea typeface="+mn-ea"/>
                <a:cs typeface="+mn-cs"/>
              </a:rPr>
              <a:t> Sensor → Enabled real‑time telecommand processing.</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Championed knowledge base of 30+ modules → 20% fewer integration errors, streamlined communication across 3 teams.</a:t>
            </a:r>
          </a:p>
          <a:p>
            <a:pPr marR="0" lvl="0" algn="just" defTabSz="914400" rtl="0" eaLnBrk="1" fontAlgn="auto" latinLnBrk="0" hangingPunct="1">
              <a:lnSpc>
                <a:spcPct val="100000"/>
              </a:lnSpc>
              <a:spcBef>
                <a:spcPts val="0"/>
              </a:spcBef>
              <a:spcAft>
                <a:spcPts val="0"/>
              </a:spcAft>
              <a:buClrTx/>
              <a:buSzTx/>
              <a:tabLst/>
              <a:defRPr/>
            </a:pPr>
            <a:r>
              <a:rPr kumimoji="0" lang="en-US" sz="900" b="1" i="0" u="none" strike="noStrike" kern="1200" cap="none" spc="0" normalizeH="0" baseline="0" noProof="0" dirty="0">
                <a:ln>
                  <a:noFill/>
                </a:ln>
                <a:solidFill>
                  <a:prstClr val="black"/>
                </a:solidFill>
                <a:effectLst/>
                <a:uLnTx/>
                <a:uFillTx/>
                <a:latin typeface="Ubuntu"/>
                <a:ea typeface="+mn-ea"/>
                <a:cs typeface="+mn-cs"/>
              </a:rPr>
              <a:t>       Senior Embedded Software Engineer – Automotive Platforms</a:t>
            </a:r>
            <a:r>
              <a:rPr kumimoji="0" lang="en-US" sz="900" b="0" i="0" u="none" strike="noStrike" kern="1200" cap="none" spc="0" normalizeH="0" baseline="0" noProof="0" dirty="0">
                <a:ln>
                  <a:noFill/>
                </a:ln>
                <a:solidFill>
                  <a:prstClr val="black"/>
                </a:solidFill>
                <a:effectLst/>
                <a:uLnTx/>
                <a:uFillTx/>
                <a:latin typeface="Ubuntu"/>
                <a:ea typeface="+mn-ea"/>
                <a:cs typeface="+mn-cs"/>
              </a:rPr>
              <a:t> @ Visteon Electronics EOOD Sofia, BG – contractor from RINF.TECH</a:t>
            </a: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black"/>
                </a:solidFill>
                <a:effectLst/>
                <a:uLnTx/>
                <a:uFillTx/>
                <a:latin typeface="Ubuntu"/>
                <a:ea typeface="+mn-ea"/>
                <a:cs typeface="+mn-cs"/>
              </a:rPr>
              <a:t>      (Jun 2014 – May 2020)</a:t>
            </a:r>
            <a:endParaRPr kumimoji="0" lang="en-US" sz="900" b="0" i="0" u="none" strike="noStrike" kern="1200" cap="none" spc="0" normalizeH="0" baseline="0" noProof="0" dirty="0">
              <a:ln>
                <a:noFill/>
              </a:ln>
              <a:solidFill>
                <a:prstClr val="black"/>
              </a:solidFill>
              <a:effectLst/>
              <a:uLnTx/>
              <a:uFillTx/>
              <a:latin typeface="Ubuntu"/>
              <a:ea typeface="+mn-ea"/>
              <a:cs typeface="+mn-cs"/>
            </a:endParaRP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Led instrument cluster development for Daimler (C/C++) → Improved reliability &amp; user experience.</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Validated display components with </a:t>
            </a:r>
            <a:r>
              <a:rPr kumimoji="0" lang="en-US" sz="900" b="0" i="0" u="none" strike="noStrike" kern="1200" cap="none" spc="0" normalizeH="0" baseline="0" noProof="0" dirty="0" err="1">
                <a:ln>
                  <a:noFill/>
                </a:ln>
                <a:solidFill>
                  <a:prstClr val="black"/>
                </a:solidFill>
                <a:effectLst/>
                <a:uLnTx/>
                <a:uFillTx/>
                <a:latin typeface="Ubuntu"/>
                <a:ea typeface="+mn-ea"/>
                <a:cs typeface="+mn-cs"/>
              </a:rPr>
              <a:t>CANoe</a:t>
            </a:r>
            <a:r>
              <a:rPr kumimoji="0" lang="en-US" sz="900" b="0" i="0" u="none" strike="noStrike" kern="1200" cap="none" spc="0" normalizeH="0" baseline="0" noProof="0" dirty="0">
                <a:ln>
                  <a:noFill/>
                </a:ln>
                <a:solidFill>
                  <a:prstClr val="black"/>
                </a:solidFill>
                <a:effectLst/>
                <a:uLnTx/>
                <a:uFillTx/>
                <a:latin typeface="Ubuntu"/>
                <a:ea typeface="+mn-ea"/>
                <a:cs typeface="+mn-cs"/>
              </a:rPr>
              <a:t> → Cut test cycle time by 20%.Delivered robust OEM features (Speedometer, Tachometer, Odometer, etc.).</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Implemented IPC &amp; Franca IDL files → Enabled seamless communication between Application Layer &amp; </a:t>
            </a:r>
            <a:r>
              <a:rPr kumimoji="0" lang="en-US" sz="900" b="0" i="0" u="none" strike="noStrike" kern="1200" cap="none" spc="0" normalizeH="0" baseline="0" noProof="0" dirty="0" err="1">
                <a:ln>
                  <a:noFill/>
                </a:ln>
                <a:solidFill>
                  <a:prstClr val="black"/>
                </a:solidFill>
                <a:effectLst/>
                <a:uLnTx/>
                <a:uFillTx/>
                <a:latin typeface="Ubuntu"/>
                <a:ea typeface="+mn-ea"/>
                <a:cs typeface="+mn-cs"/>
              </a:rPr>
              <a:t>HMI.Ensured</a:t>
            </a:r>
            <a:r>
              <a:rPr kumimoji="0" lang="en-US" sz="900" b="0" i="0" u="none" strike="noStrike" kern="1200" cap="none" spc="0" normalizeH="0" baseline="0" noProof="0" dirty="0">
                <a:ln>
                  <a:noFill/>
                </a:ln>
                <a:solidFill>
                  <a:prstClr val="black"/>
                </a:solidFill>
                <a:effectLst/>
                <a:uLnTx/>
                <a:uFillTx/>
                <a:latin typeface="Ubuntu"/>
                <a:ea typeface="+mn-ea"/>
                <a:cs typeface="+mn-cs"/>
              </a:rPr>
              <a:t> AUTOSAR RTE compliance across projects.</a:t>
            </a:r>
          </a:p>
          <a:p>
            <a:pPr marR="0" lvl="0" algn="just" defTabSz="914400" rtl="0" eaLnBrk="1" fontAlgn="auto" latinLnBrk="0" hangingPunct="1">
              <a:lnSpc>
                <a:spcPct val="100000"/>
              </a:lnSpc>
              <a:spcBef>
                <a:spcPts val="0"/>
              </a:spcBef>
              <a:spcAft>
                <a:spcPts val="0"/>
              </a:spcAft>
              <a:buClrTx/>
              <a:buSzTx/>
              <a:tabLst/>
              <a:defRPr/>
            </a:pPr>
            <a:r>
              <a:rPr kumimoji="0" lang="en-US" sz="900" b="1" i="0" u="none" strike="noStrike" kern="1200" cap="none" spc="0" normalizeH="0" baseline="0" noProof="0" dirty="0">
                <a:ln>
                  <a:noFill/>
                </a:ln>
                <a:solidFill>
                  <a:prstClr val="black"/>
                </a:solidFill>
                <a:effectLst/>
                <a:uLnTx/>
                <a:uFillTx/>
                <a:latin typeface="Ubuntu"/>
                <a:ea typeface="+mn-ea"/>
                <a:cs typeface="+mn-cs"/>
              </a:rPr>
              <a:t>      Embedded Software Engineer</a:t>
            </a:r>
            <a:r>
              <a:rPr kumimoji="0" lang="en-US" sz="900" b="0" i="0" u="none" strike="noStrike" kern="1200" cap="none" spc="0" normalizeH="0" baseline="0" noProof="0" dirty="0">
                <a:ln>
                  <a:noFill/>
                </a:ln>
                <a:solidFill>
                  <a:prstClr val="black"/>
                </a:solidFill>
                <a:effectLst/>
                <a:uLnTx/>
                <a:uFillTx/>
                <a:latin typeface="Ubuntu"/>
                <a:ea typeface="+mn-ea"/>
                <a:cs typeface="+mn-cs"/>
              </a:rPr>
              <a:t> @ Continental Automotive Romania SRL</a:t>
            </a: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black"/>
                </a:solidFill>
                <a:effectLst/>
                <a:uLnTx/>
                <a:uFillTx/>
                <a:latin typeface="Ubuntu"/>
                <a:ea typeface="+mn-ea"/>
                <a:cs typeface="+mn-cs"/>
              </a:rPr>
              <a:t>      (Aug 2010 – May 2014)</a:t>
            </a:r>
            <a:endParaRPr kumimoji="0" lang="en-US" sz="900" b="0" i="0" u="none" strike="noStrike" kern="1200" cap="none" spc="0" normalizeH="0" baseline="0" noProof="0" dirty="0">
              <a:ln>
                <a:noFill/>
              </a:ln>
              <a:solidFill>
                <a:prstClr val="black"/>
              </a:solidFill>
              <a:effectLst/>
              <a:uLnTx/>
              <a:uFillTx/>
              <a:latin typeface="Ubuntu"/>
              <a:ea typeface="+mn-ea"/>
              <a:cs typeface="+mn-cs"/>
            </a:endParaRP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Implemented customer‑specific C/C++ functionalities across Ford, Renault, VW, Porsche, Audi.</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Improved diagnostic reliability (DTC, freeze frames, failure reactions) across 5+ OEM platforms.</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Validated CAN channels &amp; diagnostic instances → Enhanced error management.</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Reduced field failures via unit &amp; integration testing, documented QA reports.</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00" b="0" i="0" u="none" strike="noStrike" kern="1200" cap="none" spc="0" normalizeH="0" baseline="0" noProof="0" dirty="0">
                <a:ln>
                  <a:noFill/>
                </a:ln>
                <a:solidFill>
                  <a:prstClr val="black"/>
                </a:solidFill>
                <a:effectLst/>
                <a:uLnTx/>
                <a:uFillTx/>
                <a:latin typeface="Ubuntu"/>
                <a:ea typeface="+mn-ea"/>
                <a:cs typeface="+mn-cs"/>
              </a:rPr>
              <a:t>Applied ISO26262 standards in Powertrain systems.</a:t>
            </a:r>
            <a:endParaRPr kumimoji="0" lang="en-IN" sz="900" b="0" i="0" u="none" strike="noStrike" kern="1200" cap="none" spc="0" normalizeH="0" baseline="0" noProof="0" dirty="0">
              <a:ln>
                <a:noFill/>
              </a:ln>
              <a:solidFill>
                <a:srgbClr val="000000"/>
              </a:solidFill>
              <a:effectLst/>
              <a:uLnTx/>
              <a:uFillTx/>
              <a:latin typeface="Ubuntu" panose="020B0504030602030204" pitchFamily="34" charset="0"/>
              <a:ea typeface="+mn-ea"/>
              <a:cs typeface="Calibri"/>
            </a:endParaRPr>
          </a:p>
        </p:txBody>
      </p:sp>
      <p:cxnSp>
        <p:nvCxnSpPr>
          <p:cNvPr id="8" name="Straight Connector 7">
            <a:extLst>
              <a:ext uri="{FF2B5EF4-FFF2-40B4-BE49-F238E27FC236}">
                <a16:creationId xmlns:a16="http://schemas.microsoft.com/office/drawing/2014/main" id="{02EEE27D-4343-4852-B168-3F3EEDD951E6}"/>
              </a:ext>
            </a:extLst>
          </p:cNvPr>
          <p:cNvCxnSpPr>
            <a:cxnSpLocks/>
          </p:cNvCxnSpPr>
          <p:nvPr/>
        </p:nvCxnSpPr>
        <p:spPr>
          <a:xfrm>
            <a:off x="4084138" y="5671544"/>
            <a:ext cx="2826873" cy="0"/>
          </a:xfrm>
          <a:prstGeom prst="line">
            <a:avLst/>
          </a:prstGeom>
          <a:ln w="12700" cap="rnd">
            <a:solidFill>
              <a:schemeClr val="tx1"/>
            </a:solidFill>
            <a:prstDash val="dash"/>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3A6EF77-F475-4D0E-B434-A672058DBAAE}"/>
              </a:ext>
            </a:extLst>
          </p:cNvPr>
          <p:cNvCxnSpPr>
            <a:cxnSpLocks/>
          </p:cNvCxnSpPr>
          <p:nvPr/>
        </p:nvCxnSpPr>
        <p:spPr>
          <a:xfrm>
            <a:off x="6931835" y="243840"/>
            <a:ext cx="0" cy="6227286"/>
          </a:xfrm>
          <a:prstGeom prst="line">
            <a:avLst/>
          </a:prstGeom>
          <a:ln w="12700" cap="rnd">
            <a:solidFill>
              <a:schemeClr val="tx1"/>
            </a:solidFill>
            <a:prstDash val="dash"/>
            <a:round/>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2E07231F-B1C2-B1BD-C982-2095E6C94BE0}"/>
              </a:ext>
            </a:extLst>
          </p:cNvPr>
          <p:cNvSpPr txBox="1"/>
          <p:nvPr/>
        </p:nvSpPr>
        <p:spPr>
          <a:xfrm>
            <a:off x="213029" y="1249682"/>
            <a:ext cx="3656811" cy="5458182"/>
          </a:xfrm>
          <a:prstGeom prst="rect">
            <a:avLst/>
          </a:prstGeom>
          <a:noFill/>
        </p:spPr>
        <p:txBody>
          <a:bodyPr wrap="square" lIns="0" tIns="0" rIns="0" bIns="0" numCol="1">
            <a:noAutofit/>
          </a:bodyPr>
          <a:lstStyle/>
          <a:p>
            <a:pPr marL="0" marR="0" lvl="0" indent="0" algn="l" defTabSz="914358" rtl="0" eaLnBrk="1" fontAlgn="auto" latinLnBrk="0" hangingPunct="1">
              <a:lnSpc>
                <a:spcPct val="100000"/>
              </a:lnSpc>
              <a:spcBef>
                <a:spcPts val="100"/>
              </a:spcBef>
              <a:spcAft>
                <a:spcPts val="100"/>
              </a:spcAft>
              <a:buClrTx/>
              <a:buSzTx/>
              <a:buFontTx/>
              <a:buNone/>
              <a:tabLst/>
              <a:defRPr/>
            </a:pPr>
            <a:r>
              <a:rPr kumimoji="0" lang="pl-PL"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t>EXPECTED </a:t>
            </a:r>
            <a:r>
              <a:rPr kumimoji="0" lang="en-US"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t>ROLE: </a:t>
            </a:r>
            <a:br>
              <a:rPr kumimoji="0" lang="pl-PL"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br>
            <a:r>
              <a:rPr kumimoji="0" lang="en-US"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t>Senior Embedded Software Engineer</a:t>
            </a:r>
            <a:br>
              <a:rPr kumimoji="0" lang="en-US"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rPr>
            </a:br>
            <a:endParaRPr kumimoji="0" lang="pl-PL" sz="1200" b="1" i="0" u="none" strike="noStrike" kern="1200" cap="none" spc="0" normalizeH="0" baseline="0" noProof="0" dirty="0">
              <a:ln>
                <a:noFill/>
              </a:ln>
              <a:solidFill>
                <a:srgbClr val="12ABDB"/>
              </a:solidFill>
              <a:effectLst/>
              <a:uLnTx/>
              <a:uFillTx/>
              <a:latin typeface="Ubuntu" panose="020B0504030602030204" pitchFamily="34" charset="0"/>
              <a:ea typeface="Verdana"/>
              <a:cs typeface="+mn-cs"/>
            </a:endParaRPr>
          </a:p>
          <a:p>
            <a:pPr marL="0" marR="0" lvl="0" indent="0" algn="l" defTabSz="914358" rtl="0" eaLnBrk="1" fontAlgn="auto" latinLnBrk="0" hangingPunct="1">
              <a:lnSpc>
                <a:spcPct val="100000"/>
              </a:lnSpc>
              <a:spcBef>
                <a:spcPts val="100"/>
              </a:spcBef>
              <a:spcAft>
                <a:spcPts val="100"/>
              </a:spcAft>
              <a:buClrTx/>
              <a:buSzTx/>
              <a:buFontTx/>
              <a:buNone/>
              <a:tabLst/>
              <a:defRPr/>
            </a:pPr>
            <a:r>
              <a:rPr kumimoji="0" lang="en-US"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KEY COMPETENCE</a:t>
            </a:r>
            <a:r>
              <a:rPr kumimoji="0" lang="pl-PL"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S</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Embedded C SW development</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Stakeholder alignment &amp; cross-functional coordination</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ASPICE compliance &amp; requirements traceability</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Agile/SCRUM methodology</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Functional &amp; System Architecture (UML, </a:t>
            </a:r>
            <a:r>
              <a:rPr lang="en-US" sz="1200" dirty="0" err="1">
                <a:solidFill>
                  <a:prstClr val="white"/>
                </a:solidFill>
                <a:latin typeface="Ubuntu" panose="020B0504030602030204" pitchFamily="34" charset="0"/>
                <a:ea typeface="Verdana" panose="020B0604030504040204" pitchFamily="34" charset="0"/>
              </a:rPr>
              <a:t>MagicDraw</a:t>
            </a:r>
            <a:r>
              <a:rPr lang="en-US" sz="1200" dirty="0">
                <a:solidFill>
                  <a:prstClr val="white"/>
                </a:solidFill>
                <a:latin typeface="Ubuntu" panose="020B0504030602030204" pitchFamily="34" charset="0"/>
                <a:ea typeface="Verdana" panose="020B0604030504040204" pitchFamily="34" charset="0"/>
              </a:rPr>
              <a:t>)</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Functional Safety (ISO 26262, ASIL)</a:t>
            </a:r>
          </a:p>
          <a:p>
            <a:pPr marL="0" marR="0" lvl="0" indent="0" algn="l" defTabSz="914358" rtl="0" eaLnBrk="1" fontAlgn="auto" latinLnBrk="0" hangingPunct="1">
              <a:lnSpc>
                <a:spcPct val="100000"/>
              </a:lnSpc>
              <a:spcBef>
                <a:spcPts val="100"/>
              </a:spcBef>
              <a:spcAft>
                <a:spcPts val="100"/>
              </a:spcAft>
              <a:buClrTx/>
              <a:buSzTx/>
              <a:buFontTx/>
              <a:buNone/>
              <a:tabLst/>
              <a:defRPr/>
            </a:pPr>
            <a:endParaRPr kumimoji="0" lang="pl-PL"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endParaRPr>
          </a:p>
          <a:p>
            <a:pPr marL="0" marR="0" lvl="0" indent="0" algn="l" defTabSz="914358" rtl="0" eaLnBrk="1" fontAlgn="auto" latinLnBrk="0" hangingPunct="1">
              <a:lnSpc>
                <a:spcPct val="100000"/>
              </a:lnSpc>
              <a:spcBef>
                <a:spcPts val="100"/>
              </a:spcBef>
              <a:spcAft>
                <a:spcPts val="100"/>
              </a:spcAft>
              <a:buClrTx/>
              <a:buSzTx/>
              <a:buFontTx/>
              <a:buNone/>
              <a:tabLst/>
              <a:defRPr/>
            </a:pPr>
            <a:r>
              <a:rPr kumimoji="0" lang="en-IN"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SKILLS</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Languages &amp; Tools: ANSI C, C++, </a:t>
            </a:r>
            <a:r>
              <a:rPr lang="en-US" sz="1200" dirty="0" err="1">
                <a:solidFill>
                  <a:prstClr val="white"/>
                </a:solidFill>
                <a:latin typeface="Ubuntu" panose="020B0504030602030204" pitchFamily="34" charset="0"/>
                <a:ea typeface="Verdana" panose="020B0604030504040204" pitchFamily="34" charset="0"/>
              </a:rPr>
              <a:t>CANoe</a:t>
            </a:r>
            <a:r>
              <a:rPr lang="en-US" sz="1200" dirty="0">
                <a:solidFill>
                  <a:prstClr val="white"/>
                </a:solidFill>
                <a:latin typeface="Ubuntu" panose="020B0504030602030204" pitchFamily="34" charset="0"/>
                <a:ea typeface="Verdana" panose="020B0604030504040204" pitchFamily="34" charset="0"/>
              </a:rPr>
              <a:t>, Trace32, Google Test, Git, Jira, Confluence, CAPL scripting</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Development Models: V‑Cycle, Agile, Scrum</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Protocols &amp; Standards: CAN, CCP, XCP, AUTOSAR, ISO 26262</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Hardware Expertise: Xilinx SDK, Zynq‑7000 SoC, ARM Cortex‑A9</a:t>
            </a:r>
          </a:p>
          <a:p>
            <a:pPr marL="171442" marR="0" lvl="0" indent="-171442" defTabSz="914358" fontAlgn="auto">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Expanding Knowledge: Python, C#, Rust</a:t>
            </a:r>
          </a:p>
          <a:p>
            <a:pPr marR="0" lvl="0" defTabSz="914358" fontAlgn="auto">
              <a:lnSpc>
                <a:spcPct val="100000"/>
              </a:lnSpc>
              <a:spcBef>
                <a:spcPts val="100"/>
              </a:spcBef>
              <a:spcAft>
                <a:spcPts val="100"/>
              </a:spcAft>
              <a:buClrTx/>
              <a:buSzTx/>
              <a:tabLst/>
              <a:defRPr/>
            </a:pPr>
            <a:endParaRPr lang="en-US" sz="1200" dirty="0">
              <a:solidFill>
                <a:prstClr val="white"/>
              </a:solidFill>
              <a:latin typeface="Ubuntu" panose="020B0504030602030204" pitchFamily="34" charset="0"/>
              <a:ea typeface="Verdana" panose="020B0604030504040204" pitchFamily="34" charset="0"/>
            </a:endParaRPr>
          </a:p>
          <a:p>
            <a:pPr marL="0" marR="0" lvl="0" indent="0" algn="l" defTabSz="914358" rtl="0" eaLnBrk="1" fontAlgn="auto" latinLnBrk="0" hangingPunct="1">
              <a:lnSpc>
                <a:spcPct val="100000"/>
              </a:lnSpc>
              <a:spcBef>
                <a:spcPts val="100"/>
              </a:spcBef>
              <a:spcAft>
                <a:spcPts val="100"/>
              </a:spcAft>
              <a:buClrTx/>
              <a:buSzTx/>
              <a:buFontTx/>
              <a:buNone/>
              <a:tabLst/>
              <a:defRPr/>
            </a:pPr>
            <a:r>
              <a:rPr kumimoji="0" lang="pl-PL"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LANGUAGES</a:t>
            </a:r>
            <a:endParaRPr kumimoji="0" lang="en-US" sz="1200" b="1"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endParaRPr>
          </a:p>
          <a:p>
            <a:pPr marL="171442" marR="0" lvl="0" indent="-171442" algn="l" defTabSz="914358" rtl="0" eaLnBrk="1" fontAlgn="auto" latinLnBrk="0" hangingPunct="1">
              <a:lnSpc>
                <a:spcPct val="100000"/>
              </a:lnSpc>
              <a:spcBef>
                <a:spcPts val="100"/>
              </a:spcBef>
              <a:spcAft>
                <a:spcPts val="1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Romanian native</a:t>
            </a:r>
          </a:p>
          <a:p>
            <a:pPr marL="171442" marR="0" lvl="0" indent="-171442" algn="l" defTabSz="914358" rtl="0" eaLnBrk="1" fontAlgn="auto" latinLnBrk="0" hangingPunct="1">
              <a:lnSpc>
                <a:spcPct val="100000"/>
              </a:lnSpc>
              <a:spcBef>
                <a:spcPts val="100"/>
              </a:spcBef>
              <a:spcAft>
                <a:spcPts val="10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rPr>
              <a:t>English C2</a:t>
            </a:r>
          </a:p>
          <a:p>
            <a:pPr marL="171442" marR="0" lvl="0" indent="-171442" algn="l" defTabSz="914358" rtl="0" eaLnBrk="1" fontAlgn="auto" latinLnBrk="0" hangingPunct="1">
              <a:lnSpc>
                <a:spcPct val="100000"/>
              </a:lnSpc>
              <a:spcBef>
                <a:spcPts val="100"/>
              </a:spcBef>
              <a:spcAft>
                <a:spcPts val="100"/>
              </a:spcAft>
              <a:buClrTx/>
              <a:buSzTx/>
              <a:buFont typeface="Arial" panose="020B0604020202020204" pitchFamily="34" charset="0"/>
              <a:buChar char="•"/>
              <a:tabLst/>
              <a:defRPr/>
            </a:pPr>
            <a:r>
              <a:rPr lang="en-US" sz="1200" dirty="0">
                <a:solidFill>
                  <a:prstClr val="white"/>
                </a:solidFill>
                <a:latin typeface="Ubuntu" panose="020B0504030602030204" pitchFamily="34" charset="0"/>
                <a:ea typeface="Verdana" panose="020B0604030504040204" pitchFamily="34" charset="0"/>
              </a:rPr>
              <a:t>German B1</a:t>
            </a:r>
            <a:endParaRPr kumimoji="0" lang="pl-PL" sz="1200" b="0" i="0" u="none" strike="noStrike" kern="1200" cap="none" spc="0" normalizeH="0" baseline="0" noProof="0" dirty="0">
              <a:ln>
                <a:noFill/>
              </a:ln>
              <a:solidFill>
                <a:prstClr val="white"/>
              </a:solidFill>
              <a:effectLst/>
              <a:uLnTx/>
              <a:uFillTx/>
              <a:latin typeface="Ubuntu" panose="020B0504030602030204" pitchFamily="34" charset="0"/>
              <a:ea typeface="Verdana" panose="020B0604030504040204" pitchFamily="34" charset="0"/>
              <a:cs typeface="+mn-cs"/>
            </a:endParaRPr>
          </a:p>
        </p:txBody>
      </p:sp>
      <p:sp>
        <p:nvSpPr>
          <p:cNvPr id="4" name="TextBox 3">
            <a:extLst>
              <a:ext uri="{FF2B5EF4-FFF2-40B4-BE49-F238E27FC236}">
                <a16:creationId xmlns:a16="http://schemas.microsoft.com/office/drawing/2014/main" id="{8553B36F-5176-6965-A019-64AD98D70720}"/>
              </a:ext>
            </a:extLst>
          </p:cNvPr>
          <p:cNvSpPr txBox="1"/>
          <p:nvPr/>
        </p:nvSpPr>
        <p:spPr>
          <a:xfrm>
            <a:off x="4062529" y="218178"/>
            <a:ext cx="2514449" cy="276999"/>
          </a:xfrm>
          <a:prstGeom prst="rect">
            <a:avLst/>
          </a:prstGeom>
          <a:noFill/>
        </p:spPr>
        <p:txBody>
          <a:bodyPr wrap="square" rtlCol="0">
            <a:spAutoFit/>
          </a:bodyPr>
          <a:lstStyle/>
          <a:p>
            <a:pPr marL="0" lvl="2" algn="just" defTabSz="957712">
              <a:spcBef>
                <a:spcPts val="600"/>
              </a:spcBef>
              <a:buClr>
                <a:srgbClr val="0098C7"/>
              </a:buClr>
              <a:defRPr/>
            </a:pPr>
            <a:r>
              <a:rPr lang="fr-FR" sz="1200" b="1" noProof="1">
                <a:solidFill>
                  <a:srgbClr val="12ABDB"/>
                </a:solidFill>
                <a:latin typeface="Ubuntu" panose="020B0504030602030204" pitchFamily="34" charset="0"/>
                <a:ea typeface="Verdana"/>
                <a:cs typeface="Verdana" panose="020B0604030504040204" pitchFamily="34" charset="0"/>
              </a:rPr>
              <a:t>PROFESSIONAL BACKGROUND</a:t>
            </a:r>
            <a:endParaRPr lang="pl-PL" sz="1000" noProof="1">
              <a:solidFill>
                <a:prstClr val="black"/>
              </a:solidFill>
              <a:latin typeface="Ubuntu" panose="020B0504030602030204" pitchFamily="34" charset="0"/>
              <a:ea typeface="Verdana"/>
            </a:endParaRPr>
          </a:p>
        </p:txBody>
      </p:sp>
      <p:sp>
        <p:nvSpPr>
          <p:cNvPr id="3" name="TextBox 2">
            <a:extLst>
              <a:ext uri="{FF2B5EF4-FFF2-40B4-BE49-F238E27FC236}">
                <a16:creationId xmlns:a16="http://schemas.microsoft.com/office/drawing/2014/main" id="{F2ADEDC7-77AB-670B-6A67-E144E36DCE5F}"/>
              </a:ext>
            </a:extLst>
          </p:cNvPr>
          <p:cNvSpPr txBox="1"/>
          <p:nvPr/>
        </p:nvSpPr>
        <p:spPr>
          <a:xfrm>
            <a:off x="4138602" y="5674185"/>
            <a:ext cx="2440092" cy="276999"/>
          </a:xfrm>
          <a:prstGeom prst="rect">
            <a:avLst/>
          </a:prstGeom>
          <a:noFill/>
        </p:spPr>
        <p:txBody>
          <a:bodyPr wrap="none" rtlCol="0">
            <a:spAutoFit/>
          </a:bodyPr>
          <a:lstStyle/>
          <a:p>
            <a:r>
              <a:rPr lang="fr-FR" sz="1200" b="1" noProof="1">
                <a:solidFill>
                  <a:srgbClr val="12ABDB"/>
                </a:solidFill>
                <a:latin typeface="Ubuntu" panose="020B0504030602030204" pitchFamily="34" charset="0"/>
                <a:ea typeface="Verdana"/>
                <a:cs typeface="Verdana" panose="020B0604030504040204" pitchFamily="34" charset="0"/>
              </a:rPr>
              <a:t>EDUCATION &amp; CERTIFICATION</a:t>
            </a:r>
          </a:p>
        </p:txBody>
      </p:sp>
      <p:sp>
        <p:nvSpPr>
          <p:cNvPr id="5" name="TextBox 4">
            <a:extLst>
              <a:ext uri="{FF2B5EF4-FFF2-40B4-BE49-F238E27FC236}">
                <a16:creationId xmlns:a16="http://schemas.microsoft.com/office/drawing/2014/main" id="{EBEFB9B7-4489-021E-E541-C284F830EE7A}"/>
              </a:ext>
            </a:extLst>
          </p:cNvPr>
          <p:cNvSpPr txBox="1"/>
          <p:nvPr/>
        </p:nvSpPr>
        <p:spPr>
          <a:xfrm>
            <a:off x="7049757" y="203577"/>
            <a:ext cx="1606530" cy="276999"/>
          </a:xfrm>
          <a:prstGeom prst="rect">
            <a:avLst/>
          </a:prstGeom>
          <a:noFill/>
        </p:spPr>
        <p:txBody>
          <a:bodyPr wrap="none" rtlCol="0">
            <a:spAutoFit/>
          </a:bodyPr>
          <a:lstStyle/>
          <a:p>
            <a:r>
              <a:rPr lang="pl-PL" sz="1200" b="1" noProof="1">
                <a:solidFill>
                  <a:srgbClr val="12ABDB"/>
                </a:solidFill>
                <a:latin typeface="Ubuntu" panose="020B0504030602030204" pitchFamily="34" charset="0"/>
                <a:ea typeface="Verdana"/>
                <a:cs typeface="Verdana" panose="020B0604030504040204" pitchFamily="34" charset="0"/>
              </a:rPr>
              <a:t>MAIN REFERENCES</a:t>
            </a:r>
            <a:endParaRPr lang="fr-FR" sz="1200" b="1" noProof="1">
              <a:solidFill>
                <a:srgbClr val="12ABDB"/>
              </a:solidFill>
              <a:latin typeface="Ubuntu" panose="020B0504030602030204" pitchFamily="34" charset="0"/>
              <a:ea typeface="Verdana"/>
              <a:cs typeface="Verdana" panose="020B0604030504040204" pitchFamily="34" charset="0"/>
            </a:endParaRPr>
          </a:p>
        </p:txBody>
      </p:sp>
      <p:sp>
        <p:nvSpPr>
          <p:cNvPr id="9" name="TextBox 3">
            <a:extLst>
              <a:ext uri="{FF2B5EF4-FFF2-40B4-BE49-F238E27FC236}">
                <a16:creationId xmlns:a16="http://schemas.microsoft.com/office/drawing/2014/main" id="{20C388AB-0C24-0F08-D632-3701A965154B}"/>
              </a:ext>
            </a:extLst>
          </p:cNvPr>
          <p:cNvSpPr txBox="1"/>
          <p:nvPr/>
        </p:nvSpPr>
        <p:spPr>
          <a:xfrm>
            <a:off x="4084138" y="2170886"/>
            <a:ext cx="1705085" cy="276999"/>
          </a:xfrm>
          <a:prstGeom prst="rect">
            <a:avLst/>
          </a:prstGeom>
          <a:noFill/>
        </p:spPr>
        <p:txBody>
          <a:bodyPr wrap="square" rtlCol="0">
            <a:spAutoFit/>
          </a:bodyPr>
          <a:lstStyle/>
          <a:p>
            <a:pPr marL="0" lvl="2" algn="just" defTabSz="957712">
              <a:spcBef>
                <a:spcPts val="600"/>
              </a:spcBef>
              <a:buClr>
                <a:srgbClr val="0098C7"/>
              </a:buClr>
              <a:defRPr/>
            </a:pPr>
            <a:r>
              <a:rPr lang="fr-FR" sz="1200" b="1" noProof="1">
                <a:solidFill>
                  <a:srgbClr val="12ABDB"/>
                </a:solidFill>
                <a:latin typeface="Ubuntu" panose="020B0504030602030204" pitchFamily="34" charset="0"/>
                <a:ea typeface="Verdana"/>
                <a:cs typeface="Verdana" panose="020B0604030504040204" pitchFamily="34" charset="0"/>
              </a:rPr>
              <a:t>KEY ACHIEVEMENTS</a:t>
            </a:r>
            <a:endParaRPr lang="pl-PL" sz="1000" noProof="1">
              <a:solidFill>
                <a:prstClr val="black"/>
              </a:solidFill>
              <a:latin typeface="Ubuntu" panose="020B0504030602030204" pitchFamily="34" charset="0"/>
              <a:ea typeface="Verdana"/>
            </a:endParaRPr>
          </a:p>
        </p:txBody>
      </p:sp>
      <p:sp>
        <p:nvSpPr>
          <p:cNvPr id="10" name="Rectangle 32">
            <a:extLst>
              <a:ext uri="{FF2B5EF4-FFF2-40B4-BE49-F238E27FC236}">
                <a16:creationId xmlns:a16="http://schemas.microsoft.com/office/drawing/2014/main" id="{6C0E2AB8-0665-7941-5E88-A2DBCE013202}"/>
              </a:ext>
            </a:extLst>
          </p:cNvPr>
          <p:cNvSpPr/>
          <p:nvPr/>
        </p:nvSpPr>
        <p:spPr>
          <a:xfrm>
            <a:off x="4112913" y="2394952"/>
            <a:ext cx="2746721" cy="3198055"/>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t"/>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2" indent="-72000" algn="just" defTabSz="844044" rtl="0" eaLnBrk="1" fontAlgn="base" latinLnBrk="0" hangingPunct="1">
              <a:lnSpc>
                <a:spcPct val="100000"/>
              </a:lnSpc>
              <a:spcAft>
                <a:spcPts val="0"/>
              </a:spcAft>
              <a:buClr>
                <a:srgbClr val="272936"/>
              </a:buClr>
              <a:buSzPct val="100000"/>
              <a:buFont typeface="Wingdings" panose="05000000000000000000" pitchFamily="2" charset="2"/>
              <a:buChar char="§"/>
              <a:tabLst/>
              <a:defRPr/>
            </a:pPr>
            <a:r>
              <a:rPr lang="en-US" sz="1000" dirty="0">
                <a:solidFill>
                  <a:prstClr val="black"/>
                </a:solidFill>
                <a:latin typeface="Ubuntu" panose="020B0504030602030204" pitchFamily="34" charset="0"/>
                <a:ea typeface="Verdana"/>
              </a:rPr>
              <a:t>Reduced debugging time by 25% through rigorous code reviews and adherence to coding standards.</a:t>
            </a:r>
          </a:p>
          <a:p>
            <a:pPr marL="0" marR="0" lvl="2" indent="-72000" algn="just" defTabSz="844044" rtl="0" eaLnBrk="1" fontAlgn="base" latinLnBrk="0" hangingPunct="1">
              <a:lnSpc>
                <a:spcPct val="100000"/>
              </a:lnSpc>
              <a:spcAft>
                <a:spcPts val="0"/>
              </a:spcAft>
              <a:buClr>
                <a:srgbClr val="272936"/>
              </a:buClr>
              <a:buSzPct val="100000"/>
              <a:buFont typeface="Wingdings" panose="05000000000000000000" pitchFamily="2" charset="2"/>
              <a:buChar char="§"/>
              <a:tabLst/>
              <a:defRPr/>
            </a:pPr>
            <a:r>
              <a:rPr lang="en-US" sz="1000" dirty="0">
                <a:solidFill>
                  <a:prstClr val="black"/>
                </a:solidFill>
                <a:latin typeface="Ubuntu" panose="020B0504030602030204" pitchFamily="34" charset="0"/>
                <a:ea typeface="Verdana"/>
              </a:rPr>
              <a:t>Improved code reliability by 25% via comprehensive unit and component testing strategies.</a:t>
            </a:r>
          </a:p>
          <a:p>
            <a:pPr marL="0" marR="0" lvl="2" indent="-72000" algn="just" defTabSz="844044" rtl="0" eaLnBrk="1" fontAlgn="base" latinLnBrk="0" hangingPunct="1">
              <a:lnSpc>
                <a:spcPct val="100000"/>
              </a:lnSpc>
              <a:spcAft>
                <a:spcPts val="0"/>
              </a:spcAft>
              <a:buClr>
                <a:srgbClr val="272936"/>
              </a:buClr>
              <a:buSzPct val="100000"/>
              <a:buFont typeface="Wingdings" panose="05000000000000000000" pitchFamily="2" charset="2"/>
              <a:buChar char="§"/>
              <a:tabLst/>
              <a:defRPr/>
            </a:pPr>
            <a:r>
              <a:rPr lang="en-US" sz="1000" dirty="0">
                <a:solidFill>
                  <a:prstClr val="black"/>
                </a:solidFill>
                <a:latin typeface="Ubuntu" panose="020B0504030602030204" pitchFamily="34" charset="0"/>
                <a:ea typeface="Verdana"/>
              </a:rPr>
              <a:t>Delivered 300+ commits ensuring consistent quality and timely releases.</a:t>
            </a:r>
          </a:p>
          <a:p>
            <a:pPr marL="0" marR="0" lvl="2" indent="-72000" algn="just" defTabSz="844044" rtl="0" eaLnBrk="1" fontAlgn="base" latinLnBrk="0" hangingPunct="1">
              <a:lnSpc>
                <a:spcPct val="100000"/>
              </a:lnSpc>
              <a:spcAft>
                <a:spcPts val="0"/>
              </a:spcAft>
              <a:buClr>
                <a:srgbClr val="272936"/>
              </a:buClr>
              <a:buSzPct val="100000"/>
              <a:buFont typeface="Wingdings" panose="05000000000000000000" pitchFamily="2" charset="2"/>
              <a:buChar char="§"/>
              <a:tabLst/>
              <a:defRPr/>
            </a:pPr>
            <a:r>
              <a:rPr lang="en-US" sz="1000" dirty="0">
                <a:solidFill>
                  <a:prstClr val="black"/>
                </a:solidFill>
                <a:latin typeface="Ubuntu" panose="020B0504030602030204" pitchFamily="34" charset="0"/>
                <a:ea typeface="Verdana"/>
              </a:rPr>
              <a:t>Built knowledge base of 50+ modules, cutting integration errors by 20% and boosting cross‑team collaboration.</a:t>
            </a:r>
          </a:p>
          <a:p>
            <a:pPr marL="0" marR="0" lvl="2" indent="-72000" algn="just" defTabSz="844044" rtl="0" eaLnBrk="1" fontAlgn="base" latinLnBrk="0" hangingPunct="1">
              <a:lnSpc>
                <a:spcPct val="100000"/>
              </a:lnSpc>
              <a:spcAft>
                <a:spcPts val="0"/>
              </a:spcAft>
              <a:buClr>
                <a:srgbClr val="272936"/>
              </a:buClr>
              <a:buSzPct val="100000"/>
              <a:buFont typeface="Wingdings" panose="05000000000000000000" pitchFamily="2" charset="2"/>
              <a:buChar char="§"/>
              <a:tabLst/>
              <a:defRPr/>
            </a:pPr>
            <a:r>
              <a:rPr lang="en-US" sz="1000" dirty="0">
                <a:solidFill>
                  <a:prstClr val="black"/>
                </a:solidFill>
                <a:latin typeface="Ubuntu" panose="020B0504030602030204" pitchFamily="34" charset="0"/>
                <a:ea typeface="Verdana"/>
              </a:rPr>
              <a:t>Optimized embedded modules → 20% memory reduction and improved responsiveness for smoother OEM integration.</a:t>
            </a:r>
          </a:p>
          <a:p>
            <a:pPr marL="0" marR="0" lvl="2" indent="-72000" algn="just" defTabSz="844044" rtl="0" eaLnBrk="1" fontAlgn="base" latinLnBrk="0" hangingPunct="1">
              <a:lnSpc>
                <a:spcPct val="100000"/>
              </a:lnSpc>
              <a:spcAft>
                <a:spcPts val="0"/>
              </a:spcAft>
              <a:buClr>
                <a:srgbClr val="272936"/>
              </a:buClr>
              <a:buSzPct val="100000"/>
              <a:buFont typeface="Wingdings" panose="05000000000000000000" pitchFamily="2" charset="2"/>
              <a:buChar char="§"/>
              <a:tabLst/>
              <a:defRPr/>
            </a:pPr>
            <a:r>
              <a:rPr lang="en-US" sz="1000" dirty="0">
                <a:solidFill>
                  <a:prstClr val="black"/>
                </a:solidFill>
                <a:latin typeface="Ubuntu" panose="020B0504030602030204" pitchFamily="34" charset="0"/>
                <a:ea typeface="Verdana"/>
              </a:rPr>
              <a:t>Enhanced real‑time performance with buffer management and interrupt‑driven design on Zynq‑7000 SoC (ARM Cortex‑A9).</a:t>
            </a:r>
          </a:p>
          <a:p>
            <a:pPr marL="0" marR="0" lvl="2" indent="-72000" algn="just" defTabSz="844044" rtl="0" eaLnBrk="1" fontAlgn="base" latinLnBrk="0" hangingPunct="1">
              <a:lnSpc>
                <a:spcPct val="100000"/>
              </a:lnSpc>
              <a:spcAft>
                <a:spcPts val="0"/>
              </a:spcAft>
              <a:buClr>
                <a:srgbClr val="272936"/>
              </a:buClr>
              <a:buSzPct val="100000"/>
              <a:buFont typeface="Wingdings" panose="05000000000000000000" pitchFamily="2" charset="2"/>
              <a:buChar char="§"/>
              <a:tabLst/>
              <a:defRPr/>
            </a:pPr>
            <a:r>
              <a:rPr lang="en-US" sz="1000" dirty="0">
                <a:solidFill>
                  <a:prstClr val="black"/>
                </a:solidFill>
                <a:latin typeface="Ubuntu" panose="020B0504030602030204" pitchFamily="34" charset="0"/>
                <a:ea typeface="Verdana"/>
              </a:rPr>
              <a:t>Acted as Tech Lead, resolving critical roadblocks, mentoring new members, and ensuring project continuity with direct client engagement.</a:t>
            </a:r>
          </a:p>
        </p:txBody>
      </p:sp>
      <p:cxnSp>
        <p:nvCxnSpPr>
          <p:cNvPr id="11" name="Straight Connector 7">
            <a:extLst>
              <a:ext uri="{FF2B5EF4-FFF2-40B4-BE49-F238E27FC236}">
                <a16:creationId xmlns:a16="http://schemas.microsoft.com/office/drawing/2014/main" id="{869DA48F-5CAA-225A-A5E3-5E6BDB018934}"/>
              </a:ext>
            </a:extLst>
          </p:cNvPr>
          <p:cNvCxnSpPr>
            <a:cxnSpLocks/>
          </p:cNvCxnSpPr>
          <p:nvPr/>
        </p:nvCxnSpPr>
        <p:spPr>
          <a:xfrm>
            <a:off x="4124215" y="2168244"/>
            <a:ext cx="2826873" cy="0"/>
          </a:xfrm>
          <a:prstGeom prst="line">
            <a:avLst/>
          </a:prstGeom>
          <a:ln w="12700" cap="rnd">
            <a:solidFill>
              <a:schemeClr val="tx1"/>
            </a:solidFill>
            <a:prstDash val="dash"/>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802186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Cover options_Section">
  <a:themeElements>
    <a:clrScheme name="Capgemini NEW">
      <a:dk1>
        <a:sysClr val="windowText" lastClr="000000"/>
      </a:dk1>
      <a:lt1>
        <a:srgbClr val="FFFFFF"/>
      </a:lt1>
      <a:dk2>
        <a:srgbClr val="000000"/>
      </a:dk2>
      <a:lt2>
        <a:srgbClr val="ECECEC"/>
      </a:lt2>
      <a:accent1>
        <a:srgbClr val="0070AD"/>
      </a:accent1>
      <a:accent2>
        <a:srgbClr val="12ABDB"/>
      </a:accent2>
      <a:accent3>
        <a:srgbClr val="2B0A3D"/>
      </a:accent3>
      <a:accent4>
        <a:srgbClr val="272936"/>
      </a:accent4>
      <a:accent5>
        <a:srgbClr val="0F878A"/>
      </a:accent5>
      <a:accent6>
        <a:srgbClr val="14596B"/>
      </a:accent6>
      <a:hlink>
        <a:srgbClr val="00929B"/>
      </a:hlink>
      <a:folHlink>
        <a:srgbClr val="00E6E3"/>
      </a:folHlink>
    </a:clrScheme>
    <a:fontScheme name="Capgemini 2021">
      <a:majorFont>
        <a:latin typeface="Ubuntu Medium"/>
        <a:ea typeface=""/>
        <a:cs typeface=""/>
      </a:majorFont>
      <a:minorFont>
        <a:latin typeface="Ubuntu"/>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ésentation11" id="{18B0FA0E-52BA-4F3F-B2FD-88B4C8061DF8}" vid="{B5884A08-8118-4F4B-BE23-42A2365375DD}"/>
    </a:ext>
  </a:extLst>
</a:theme>
</file>

<file path=ppt/theme/theme2.xml><?xml version="1.0" encoding="utf-8"?>
<a:theme xmlns:a="http://schemas.openxmlformats.org/drawingml/2006/main" name="Tema do Office">
  <a:themeElements>
    <a:clrScheme name="Capgemini 2021">
      <a:dk1>
        <a:sysClr val="windowText" lastClr="000000"/>
      </a:dk1>
      <a:lt1>
        <a:srgbClr val="FFFFFF"/>
      </a:lt1>
      <a:dk2>
        <a:srgbClr val="000000"/>
      </a:dk2>
      <a:lt2>
        <a:srgbClr val="ECECEC"/>
      </a:lt2>
      <a:accent1>
        <a:srgbClr val="0070AD"/>
      </a:accent1>
      <a:accent2>
        <a:srgbClr val="12ABDB"/>
      </a:accent2>
      <a:accent3>
        <a:srgbClr val="2B0A3D"/>
      </a:accent3>
      <a:accent4>
        <a:srgbClr val="272936"/>
      </a:accent4>
      <a:accent5>
        <a:srgbClr val="0F878A"/>
      </a:accent5>
      <a:accent6>
        <a:srgbClr val="14596B"/>
      </a:accent6>
      <a:hlink>
        <a:srgbClr val="00929B"/>
      </a:hlink>
      <a:folHlink>
        <a:srgbClr val="00E6E3"/>
      </a:folHlink>
    </a:clrScheme>
    <a:fontScheme name="Capgemini 2021">
      <a:majorFont>
        <a:latin typeface="Ubuntu Medium"/>
        <a:ea typeface=""/>
        <a:cs typeface=""/>
      </a:majorFont>
      <a:minorFont>
        <a:latin typeface="Ubuntu"/>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Capgemini 2021">
      <a:dk1>
        <a:sysClr val="windowText" lastClr="000000"/>
      </a:dk1>
      <a:lt1>
        <a:srgbClr val="FFFFFF"/>
      </a:lt1>
      <a:dk2>
        <a:srgbClr val="000000"/>
      </a:dk2>
      <a:lt2>
        <a:srgbClr val="ECECEC"/>
      </a:lt2>
      <a:accent1>
        <a:srgbClr val="0070AD"/>
      </a:accent1>
      <a:accent2>
        <a:srgbClr val="12ABDB"/>
      </a:accent2>
      <a:accent3>
        <a:srgbClr val="2B0A3D"/>
      </a:accent3>
      <a:accent4>
        <a:srgbClr val="272936"/>
      </a:accent4>
      <a:accent5>
        <a:srgbClr val="0F878A"/>
      </a:accent5>
      <a:accent6>
        <a:srgbClr val="14596B"/>
      </a:accent6>
      <a:hlink>
        <a:srgbClr val="00929B"/>
      </a:hlink>
      <a:folHlink>
        <a:srgbClr val="00E6E3"/>
      </a:folHlink>
    </a:clrScheme>
    <a:fontScheme name="Capgemini 2021">
      <a:majorFont>
        <a:latin typeface="Ubuntu Medium"/>
        <a:ea typeface=""/>
        <a:cs typeface=""/>
      </a:majorFont>
      <a:minorFont>
        <a:latin typeface="Ubuntu"/>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8379B9164345D4B9FEA71B5C6DA0501" ma:contentTypeVersion="12" ma:contentTypeDescription="Create a new document." ma:contentTypeScope="" ma:versionID="25a509c6a27b952c0dae28f88f47ece3">
  <xsd:schema xmlns:xsd="http://www.w3.org/2001/XMLSchema" xmlns:xs="http://www.w3.org/2001/XMLSchema" xmlns:p="http://schemas.microsoft.com/office/2006/metadata/properties" xmlns:ns2="cddac4ca-1f9a-48ec-a052-f880be6be43c" xmlns:ns3="70ba0579-5a3d-4697-904b-f432645238e6" targetNamespace="http://schemas.microsoft.com/office/2006/metadata/properties" ma:root="true" ma:fieldsID="3585157dcfd28b9b0093472ca559abd9" ns2:_="" ns3:_="">
    <xsd:import namespace="cddac4ca-1f9a-48ec-a052-f880be6be43c"/>
    <xsd:import namespace="70ba0579-5a3d-4697-904b-f432645238e6"/>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ddac4ca-1f9a-48ec-a052-f880be6be43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Length (seconds)" ma:internalName="MediaLengthInSeconds" ma:readOnly="true">
      <xsd:simpleType>
        <xsd:restriction base="dms:Unknown"/>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0ba0579-5a3d-4697-904b-f432645238e6"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765F6DA-EDFD-4C3F-B2EB-EDE359E124E2}">
  <ds:schemaRefs>
    <ds:schemaRef ds:uri="http://schemas.microsoft.com/office/2006/documentManagement/types"/>
    <ds:schemaRef ds:uri="http://purl.org/dc/elements/1.1/"/>
    <ds:schemaRef ds:uri="http://www.w3.org/XML/1998/namespace"/>
    <ds:schemaRef ds:uri="http://purl.org/dc/dcmitype/"/>
    <ds:schemaRef ds:uri="http://schemas.microsoft.com/office/2006/metadata/properties"/>
    <ds:schemaRef ds:uri="http://schemas.openxmlformats.org/package/2006/metadata/core-properties"/>
    <ds:schemaRef ds:uri="70ba0579-5a3d-4697-904b-f432645238e6"/>
    <ds:schemaRef ds:uri="http://schemas.microsoft.com/office/infopath/2007/PartnerControls"/>
    <ds:schemaRef ds:uri="cddac4ca-1f9a-48ec-a052-f880be6be43c"/>
    <ds:schemaRef ds:uri="http://purl.org/dc/terms/"/>
  </ds:schemaRefs>
</ds:datastoreItem>
</file>

<file path=customXml/itemProps2.xml><?xml version="1.0" encoding="utf-8"?>
<ds:datastoreItem xmlns:ds="http://schemas.openxmlformats.org/officeDocument/2006/customXml" ds:itemID="{93B09ECE-D1C0-42A5-B69E-8C88764DB9F3}">
  <ds:schemaRefs>
    <ds:schemaRef ds:uri="http://schemas.microsoft.com/sharepoint/v3/contenttype/forms"/>
  </ds:schemaRefs>
</ds:datastoreItem>
</file>

<file path=customXml/itemProps3.xml><?xml version="1.0" encoding="utf-8"?>
<ds:datastoreItem xmlns:ds="http://schemas.openxmlformats.org/officeDocument/2006/customXml" ds:itemID="{DB6846BF-D536-4981-BB4E-DAFD3540F1E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ddac4ca-1f9a-48ec-a052-f880be6be43c"/>
    <ds:schemaRef ds:uri="70ba0579-5a3d-4697-904b-f432645238e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76a2ae5a-9f00-4f6b-95ed-5d33d77c4d61}" enabled="0" method="" siteId="{76a2ae5a-9f00-4f6b-95ed-5d33d77c4d61}" removed="1"/>
</clbl:labelList>
</file>

<file path=docProps/app.xml><?xml version="1.0" encoding="utf-8"?>
<Properties xmlns="http://schemas.openxmlformats.org/officeDocument/2006/extended-properties" xmlns:vt="http://schemas.openxmlformats.org/officeDocument/2006/docPropsVTypes">
  <Template>ppt-Capgemini_MasterTemplate</Template>
  <TotalTime>5709</TotalTime>
  <Words>768</Words>
  <Application>Microsoft Office PowerPoint</Application>
  <PresentationFormat>Ecran lat</PresentationFormat>
  <Paragraphs>63</Paragraphs>
  <Slides>1</Slides>
  <Notes>0</Notes>
  <HiddenSlides>0</HiddenSlides>
  <MMClips>0</MMClips>
  <ScaleCrop>false</ScaleCrop>
  <HeadingPairs>
    <vt:vector size="8" baseType="variant">
      <vt:variant>
        <vt:lpstr>Fonturi utilizate</vt:lpstr>
      </vt:variant>
      <vt:variant>
        <vt:i4>3</vt:i4>
      </vt:variant>
      <vt:variant>
        <vt:lpstr>Temă</vt:lpstr>
      </vt:variant>
      <vt:variant>
        <vt:i4>1</vt:i4>
      </vt:variant>
      <vt:variant>
        <vt:lpstr>Servere OLE încorporate</vt:lpstr>
      </vt:variant>
      <vt:variant>
        <vt:i4>1</vt:i4>
      </vt:variant>
      <vt:variant>
        <vt:lpstr>Titluri diapozitive</vt:lpstr>
      </vt:variant>
      <vt:variant>
        <vt:i4>1</vt:i4>
      </vt:variant>
    </vt:vector>
  </HeadingPairs>
  <TitlesOfParts>
    <vt:vector size="6" baseType="lpstr">
      <vt:lpstr>Arial</vt:lpstr>
      <vt:lpstr>Ubuntu</vt:lpstr>
      <vt:lpstr>Wingdings</vt:lpstr>
      <vt:lpstr>Cover options_Section</vt:lpstr>
      <vt:lpstr>think-cell Slide</vt:lpstr>
      <vt:lpstr>Prezentare PowerPoint</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VOINA, Cristian</dc:creator>
  <cp:lastModifiedBy>Robert Buzabrici-Filipescu</cp:lastModifiedBy>
  <cp:revision>165</cp:revision>
  <dcterms:created xsi:type="dcterms:W3CDTF">2021-06-17T16:25:34Z</dcterms:created>
  <dcterms:modified xsi:type="dcterms:W3CDTF">2025-12-12T16:22:12Z</dcterms:modified>
  <cp:category>Company Confidential</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0x01010028379B9164345D4B9FEA71B5C6DA0501</vt:lpwstr>
  </property>
</Properties>
</file>