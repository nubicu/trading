
<file path=[Content_Types].xml><?xml version="1.0" encoding="utf-8"?>
<Types xmlns="http://schemas.openxmlformats.org/package/2006/content-types">
  <Default Extension="bin" ContentType="application/vnd.openxmlformats-officedocument.oleObject"/>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4" r:id="rId4"/>
  </p:sldMasterIdLst>
  <p:notesMasterIdLst>
    <p:notesMasterId r:id="rId6"/>
  </p:notesMasterIdLst>
  <p:handoutMasterIdLst>
    <p:handoutMasterId r:id="rId7"/>
  </p:handoutMasterIdLst>
  <p:sldIdLst>
    <p:sldId id="2147480644" r:id="rId5"/>
  </p:sldIdLst>
  <p:sldSz cx="12192000" cy="6858000"/>
  <p:notesSz cx="6858000" cy="9144000"/>
  <p:custDataLst>
    <p:tags r:id="rId8"/>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2341" userDrawn="1">
          <p15:clr>
            <a:srgbClr val="A4A3A4"/>
          </p15:clr>
        </p15:guide>
        <p15:guide id="6"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eeler, Scott" initials="WS" lastIdx="9" clrIdx="0">
    <p:extLst>
      <p:ext uri="{19B8F6BF-5375-455C-9EA6-DF929625EA0E}">
        <p15:presenceInfo xmlns:p15="http://schemas.microsoft.com/office/powerpoint/2012/main" userId="S::scott.wheeler@capgemini.com::197b48de-3d2f-4ab4-9492-85eadd3871f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A80"/>
    <a:srgbClr val="2B0A3D"/>
    <a:srgbClr val="ECECEC"/>
    <a:srgbClr val="0F878A"/>
    <a:srgbClr val="14596B"/>
    <a:srgbClr val="A6A6A6"/>
    <a:srgbClr val="57CF80"/>
    <a:srgbClr val="12ABDB"/>
    <a:srgbClr val="E30021"/>
    <a:srgbClr val="007D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9E446B-10DE-4E33-A9F9-27FA9A1A7BDA}" v="53" dt="2025-09-08T11:23:44.3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39" autoAdjust="0"/>
    <p:restoredTop sz="94660"/>
  </p:normalViewPr>
  <p:slideViewPr>
    <p:cSldViewPr snapToGrid="0">
      <p:cViewPr varScale="1">
        <p:scale>
          <a:sx n="111" d="100"/>
          <a:sy n="111" d="100"/>
        </p:scale>
        <p:origin x="654" y="102"/>
      </p:cViewPr>
      <p:guideLst>
        <p:guide orient="horz" pos="2341"/>
        <p:guide pos="3840"/>
      </p:guideLst>
    </p:cSldViewPr>
  </p:slideViewPr>
  <p:notesTextViewPr>
    <p:cViewPr>
      <p:scale>
        <a:sx n="1" d="1"/>
        <a:sy n="1" d="1"/>
      </p:scale>
      <p:origin x="0" y="0"/>
    </p:cViewPr>
  </p:notesText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20/02/2026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20/02/2026</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APITAL 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ED280F-765A-1F56-D5A9-32F3A479D0CE}"/>
              </a:ext>
            </a:extLst>
          </p:cNvPr>
          <p:cNvSpPr/>
          <p:nvPr userDrawn="1"/>
        </p:nvSpPr>
        <p:spPr>
          <a:xfrm>
            <a:off x="1" y="0"/>
            <a:ext cx="4060371"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8"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white"/>
              </a:solidFill>
              <a:effectLst/>
              <a:uLnTx/>
              <a:uFillTx/>
              <a:latin typeface="Ubuntu" panose="020B0504030602030204" pitchFamily="34" charset="0"/>
              <a:ea typeface="+mn-ea"/>
              <a:cs typeface="+mn-cs"/>
            </a:endParaRPr>
          </a:p>
        </p:txBody>
      </p:sp>
      <p:sp>
        <p:nvSpPr>
          <p:cNvPr id="5" name="Rectangle: Top Corners Rounded 4">
            <a:extLst>
              <a:ext uri="{FF2B5EF4-FFF2-40B4-BE49-F238E27FC236}">
                <a16:creationId xmlns:a16="http://schemas.microsoft.com/office/drawing/2014/main" id="{2440DD15-7A77-5E6C-7502-E124DC47709C}"/>
              </a:ext>
            </a:extLst>
          </p:cNvPr>
          <p:cNvSpPr/>
          <p:nvPr userDrawn="1"/>
        </p:nvSpPr>
        <p:spPr>
          <a:xfrm rot="5400000">
            <a:off x="1599746" y="-1035427"/>
            <a:ext cx="512539" cy="3712028"/>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274301" rtlCol="0" anchor="ctr"/>
          <a:lstStyle/>
          <a:p>
            <a:pPr>
              <a:defRPr/>
            </a:pPr>
            <a:endParaRPr kumimoji="0" lang="en-GB" sz="1600" b="1" i="0" u="none" strike="noStrike" kern="1200" cap="none" spc="0" normalizeH="0" baseline="0" noProof="0">
              <a:ln>
                <a:noFill/>
              </a:ln>
              <a:solidFill>
                <a:prstClr val="white"/>
              </a:solidFill>
              <a:effectLst/>
              <a:uLnTx/>
              <a:uFillTx/>
              <a:latin typeface="Ubuntu" panose="020B0504030602030204" pitchFamily="34" charset="0"/>
              <a:ea typeface="+mn-ea"/>
              <a:cs typeface="+mn-cs"/>
            </a:endParaRPr>
          </a:p>
        </p:txBody>
      </p:sp>
      <p:sp>
        <p:nvSpPr>
          <p:cNvPr id="8" name="Rectangle 27">
            <a:extLst>
              <a:ext uri="{FF2B5EF4-FFF2-40B4-BE49-F238E27FC236}">
                <a16:creationId xmlns:a16="http://schemas.microsoft.com/office/drawing/2014/main" id="{3372B03E-174C-6696-65D5-CB0740714F91}"/>
              </a:ext>
            </a:extLst>
          </p:cNvPr>
          <p:cNvSpPr/>
          <p:nvPr userDrawn="1"/>
        </p:nvSpPr>
        <p:spPr>
          <a:xfrm>
            <a:off x="-139708" y="6629322"/>
            <a:ext cx="3410847" cy="219456"/>
          </a:xfrm>
          <a:prstGeom prst="rect">
            <a:avLst/>
          </a:prstGeom>
        </p:spPr>
        <p:txBody>
          <a:bodyPr wrap="square" lIns="0" tIns="0" rIns="0" bIns="0" anchor="ctr" anchorCtr="0">
            <a:noAutofit/>
          </a:bodyPr>
          <a:lstStyle/>
          <a:p>
            <a:pPr marL="0" marR="0" lvl="0" indent="0" algn="ctr" defTabSz="914358" rtl="0" eaLnBrk="1" fontAlgn="auto" latinLnBrk="0" hangingPunct="1">
              <a:lnSpc>
                <a:spcPct val="100000"/>
              </a:lnSpc>
              <a:spcBef>
                <a:spcPts val="0"/>
              </a:spcBef>
              <a:spcAft>
                <a:spcPts val="0"/>
              </a:spcAft>
              <a:buClrTx/>
              <a:buSzTx/>
              <a:buFontTx/>
              <a:buNone/>
              <a:tabLst/>
              <a:defRPr/>
            </a:pPr>
            <a:endParaRPr lang="en-IN" sz="700" i="1" kern="0">
              <a:solidFill>
                <a:schemeClr val="bg1">
                  <a:lumMod val="75000"/>
                </a:schemeClr>
              </a:solidFill>
              <a:latin typeface="Ubuntu" panose="020B050403060203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3437CD22-1D5A-0243-CE53-4087E878238F}"/>
              </a:ext>
            </a:extLst>
          </p:cNvPr>
          <p:cNvSpPr>
            <a:spLocks noGrp="1"/>
          </p:cNvSpPr>
          <p:nvPr>
            <p:ph type="ftr" sz="quarter" idx="10"/>
          </p:nvPr>
        </p:nvSpPr>
        <p:spPr>
          <a:xfrm>
            <a:off x="8699239" y="6583279"/>
            <a:ext cx="3492761" cy="253158"/>
          </a:xfrm>
        </p:spPr>
        <p:txBody>
          <a:bodyPr/>
          <a:lstStyle/>
          <a:p>
            <a:r>
              <a:rPr lang="pl-PL"/>
              <a:t>Company Confdential </a:t>
            </a:r>
            <a:r>
              <a:rPr lang="en-US"/>
              <a:t>© Capgemini 2024. All rights reserved</a:t>
            </a:r>
            <a:endParaRPr lang="pl-PL"/>
          </a:p>
        </p:txBody>
      </p:sp>
    </p:spTree>
    <p:extLst>
      <p:ext uri="{BB962C8B-B14F-4D97-AF65-F5344CB8AC3E}">
        <p14:creationId xmlns:p14="http://schemas.microsoft.com/office/powerpoint/2010/main" val="19855684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14978218"/>
      </p:ext>
    </p:extLst>
  </p:cSld>
  <p:clrMap bg1="lt1" tx1="dk1" bg2="lt2" tx2="dk2" accent1="accent1" accent2="accent2" accent3="accent3" accent4="accent4" accent5="accent5" accent6="accent6" hlink="hlink" folHlink="folHlink"/>
  <p:sldLayoutIdLst>
    <p:sldLayoutId id="2147483963" r:id="rId1"/>
  </p:sldLayoutIdLst>
  <p:hf sldNum="0" hd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70" userDrawn="1">
          <p15:clr>
            <a:srgbClr val="F26B43"/>
          </p15:clr>
        </p15:guide>
        <p15:guide id="4" pos="3840" userDrawn="1">
          <p15:clr>
            <a:srgbClr val="F26B43"/>
          </p15:clr>
        </p15:guide>
        <p15:guide id="5" pos="255" userDrawn="1">
          <p15:clr>
            <a:srgbClr val="F26B43"/>
          </p15:clr>
        </p15:guide>
        <p15:guide id="6" pos="7423" userDrawn="1">
          <p15:clr>
            <a:srgbClr val="F26B43"/>
          </p15:clr>
        </p15:guide>
        <p15:guide id="7" orient="horz" pos="245" userDrawn="1">
          <p15:clr>
            <a:srgbClr val="F26B43"/>
          </p15:clr>
        </p15:guide>
        <p15:guide id="8" orient="horz" pos="706" userDrawn="1">
          <p15:clr>
            <a:srgbClr val="F26B43"/>
          </p15:clr>
        </p15:guide>
        <p15:guide id="9" orient="horz" pos="83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Top Corners Rounded 24">
            <a:extLst>
              <a:ext uri="{FF2B5EF4-FFF2-40B4-BE49-F238E27FC236}">
                <a16:creationId xmlns:a16="http://schemas.microsoft.com/office/drawing/2014/main" id="{F2A58D31-2209-409D-863D-655D6087DBD0}"/>
              </a:ext>
            </a:extLst>
          </p:cNvPr>
          <p:cNvSpPr/>
          <p:nvPr/>
        </p:nvSpPr>
        <p:spPr>
          <a:xfrm rot="5400000">
            <a:off x="1694645" y="-1098172"/>
            <a:ext cx="512503" cy="3837886"/>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274301" rtlCol="0" anchor="ctr"/>
          <a:lstStyle/>
          <a:p>
            <a:pPr lvl="0" defTabSz="914358">
              <a:defRPr/>
            </a:pPr>
            <a:r>
              <a:rPr lang="en-GB" sz="1600" dirty="0">
                <a:solidFill>
                  <a:srgbClr val="FFFFFF"/>
                </a:solidFill>
              </a:rPr>
              <a:t>RBF</a:t>
            </a:r>
            <a:endParaRPr kumimoji="0" lang="en-GB" sz="1600" b="1" i="0" u="none" strike="noStrike" kern="1200" cap="none" spc="0" normalizeH="0" baseline="0" noProof="0" dirty="0">
              <a:ln>
                <a:noFill/>
              </a:ln>
              <a:solidFill>
                <a:prstClr val="white"/>
              </a:solidFill>
              <a:effectLst/>
              <a:uLnTx/>
              <a:uFillTx/>
              <a:latin typeface="Ubuntu" panose="020B0504030602030204" pitchFamily="34" charset="0"/>
              <a:ea typeface="+mn-ea"/>
              <a:cs typeface="+mn-cs"/>
            </a:endParaRPr>
          </a:p>
        </p:txBody>
      </p:sp>
      <p:sp>
        <p:nvSpPr>
          <p:cNvPr id="27" name="Rectangle 26">
            <a:extLst>
              <a:ext uri="{FF2B5EF4-FFF2-40B4-BE49-F238E27FC236}">
                <a16:creationId xmlns:a16="http://schemas.microsoft.com/office/drawing/2014/main" id="{81918A9A-000F-4219-B8A2-364665AC09BE}"/>
              </a:ext>
            </a:extLst>
          </p:cNvPr>
          <p:cNvSpPr/>
          <p:nvPr/>
        </p:nvSpPr>
        <p:spPr>
          <a:xfrm>
            <a:off x="4169366" y="902854"/>
            <a:ext cx="2891123" cy="25901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2" indent="0" defTabSz="957712" rtl="0" eaLnBrk="1" fontAlgn="auto" latinLnBrk="0" hangingPunct="1">
              <a:lnSpc>
                <a:spcPct val="100000"/>
              </a:lnSpc>
              <a:spcBef>
                <a:spcPts val="600"/>
              </a:spcBef>
              <a:spcAft>
                <a:spcPts val="0"/>
              </a:spcAft>
              <a:buClr>
                <a:srgbClr val="0098C7"/>
              </a:buClr>
              <a:buSzTx/>
              <a:buFontTx/>
              <a:buNone/>
              <a:tabLst/>
              <a:defRPr/>
            </a:pPr>
            <a:r>
              <a:rPr lang="en-US" sz="1050" dirty="0">
                <a:solidFill>
                  <a:prstClr val="black"/>
                </a:solidFill>
                <a:latin typeface="Ubuntu" panose="020B0504030602030204" pitchFamily="34" charset="0"/>
                <a:ea typeface="Verdana"/>
              </a:rPr>
              <a:t>Senior Embedded Software Engineer with experience in ANSI C. Basic Knowledge about CAN communication and calibration protocol (CCP/XCP), V-cycle model, Agile methodology, Scrum, good understanding and system overview of powertrain engine vehicles and electric vehicles.</a:t>
            </a:r>
          </a:p>
          <a:p>
            <a:pPr marL="0" lvl="2" defTabSz="957712">
              <a:spcBef>
                <a:spcPts val="600"/>
              </a:spcBef>
              <a:buClr>
                <a:srgbClr val="0098C7"/>
              </a:buClr>
              <a:defRPr/>
            </a:pPr>
            <a:r>
              <a:rPr lang="en-US" sz="1050" dirty="0">
                <a:solidFill>
                  <a:prstClr val="black"/>
                </a:solidFill>
                <a:latin typeface="Ubuntu" panose="020B0504030602030204" pitchFamily="34" charset="0"/>
                <a:ea typeface="Verdana"/>
              </a:rPr>
              <a:t>So far in my career I was most productive when working in an environment that is full of people that are able and eager to help whenever is needed, an environment full of communication between the team members.</a:t>
            </a:r>
          </a:p>
        </p:txBody>
      </p:sp>
      <p:sp>
        <p:nvSpPr>
          <p:cNvPr id="33" name="Rectangle 32">
            <a:extLst>
              <a:ext uri="{FF2B5EF4-FFF2-40B4-BE49-F238E27FC236}">
                <a16:creationId xmlns:a16="http://schemas.microsoft.com/office/drawing/2014/main" id="{B102D15C-7FAA-4CA6-A332-7B354179C5B9}"/>
              </a:ext>
            </a:extLst>
          </p:cNvPr>
          <p:cNvSpPr/>
          <p:nvPr/>
        </p:nvSpPr>
        <p:spPr>
          <a:xfrm>
            <a:off x="4149380" y="4114800"/>
            <a:ext cx="2891123" cy="248452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42" marR="0" lvl="2" indent="-171442" algn="l" defTabSz="844044" rtl="0" eaLnBrk="1" fontAlgn="base" latinLnBrk="0" hangingPunct="1">
              <a:lnSpc>
                <a:spcPct val="100000"/>
              </a:lnSpc>
              <a:spcBef>
                <a:spcPts val="600"/>
              </a:spcBef>
              <a:spcAft>
                <a:spcPts val="0"/>
              </a:spcAft>
              <a:buClr>
                <a:srgbClr val="272936"/>
              </a:buClr>
              <a:buSzPct val="100000"/>
              <a:buFont typeface="Wingdings" panose="05000000000000000000" pitchFamily="2" charset="2"/>
              <a:buChar char="§"/>
              <a:tabLst/>
              <a:defRPr/>
            </a:pPr>
            <a:r>
              <a:rPr lang="en-US" sz="1000" dirty="0">
                <a:solidFill>
                  <a:prstClr val="black"/>
                </a:solidFill>
                <a:latin typeface="Ubuntu" panose="020B0504030602030204" pitchFamily="34" charset="0"/>
                <a:ea typeface="Verdana"/>
              </a:rPr>
              <a:t>Classic </a:t>
            </a:r>
            <a:r>
              <a:rPr lang="en-US" sz="1000" dirty="0" err="1">
                <a:solidFill>
                  <a:prstClr val="black"/>
                </a:solidFill>
                <a:latin typeface="Ubuntu" panose="020B0504030602030204" pitchFamily="34" charset="0"/>
                <a:ea typeface="Verdana"/>
              </a:rPr>
              <a:t>Autosar</a:t>
            </a:r>
            <a:r>
              <a:rPr lang="en-US" sz="1000" dirty="0">
                <a:solidFill>
                  <a:prstClr val="black"/>
                </a:solidFill>
                <a:latin typeface="Ubuntu" panose="020B0504030602030204" pitchFamily="34" charset="0"/>
                <a:ea typeface="Verdana"/>
              </a:rPr>
              <a:t> using Ve</a:t>
            </a:r>
          </a:p>
          <a:p>
            <a:pPr marL="171442" marR="0" lvl="2" indent="-171442" algn="l" defTabSz="844044" rtl="0" eaLnBrk="1" fontAlgn="base" latinLnBrk="0" hangingPunct="1">
              <a:lnSpc>
                <a:spcPct val="100000"/>
              </a:lnSpc>
              <a:spcBef>
                <a:spcPts val="600"/>
              </a:spcBef>
              <a:spcAft>
                <a:spcPts val="0"/>
              </a:spcAft>
              <a:buClr>
                <a:srgbClr val="272936"/>
              </a:buClr>
              <a:buSzPct val="100000"/>
              <a:buFont typeface="Wingdings" panose="05000000000000000000" pitchFamily="2" charset="2"/>
              <a:buChar char="§"/>
              <a:tabLst/>
              <a:defRPr/>
            </a:pPr>
            <a:r>
              <a:rPr lang="en-US" sz="1000" dirty="0" err="1">
                <a:solidFill>
                  <a:prstClr val="black"/>
                </a:solidFill>
                <a:latin typeface="Ubuntu" panose="020B0504030602030204" pitchFamily="34" charset="0"/>
                <a:ea typeface="Verdana"/>
              </a:rPr>
              <a:t>Classic&amp;Adaptive</a:t>
            </a:r>
            <a:r>
              <a:rPr lang="en-US" sz="1000" dirty="0">
                <a:solidFill>
                  <a:prstClr val="black"/>
                </a:solidFill>
                <a:latin typeface="Ubuntu" panose="020B0504030602030204" pitchFamily="34" charset="0"/>
                <a:ea typeface="Verdana"/>
              </a:rPr>
              <a:t> AUTOSAR using EB Tressos</a:t>
            </a:r>
          </a:p>
          <a:p>
            <a:pPr marL="171442" marR="0" lvl="2" indent="-171442" algn="l" defTabSz="844044" rtl="0" eaLnBrk="1" fontAlgn="base" latinLnBrk="0" hangingPunct="1">
              <a:lnSpc>
                <a:spcPct val="100000"/>
              </a:lnSpc>
              <a:spcBef>
                <a:spcPts val="600"/>
              </a:spcBef>
              <a:spcAft>
                <a:spcPts val="0"/>
              </a:spcAft>
              <a:buClr>
                <a:srgbClr val="272936"/>
              </a:buClr>
              <a:buSzPct val="100000"/>
              <a:buFont typeface="Wingdings" panose="05000000000000000000" pitchFamily="2" charset="2"/>
              <a:buChar char="§"/>
              <a:tabLst/>
              <a:defRPr/>
            </a:pPr>
            <a:r>
              <a:rPr lang="en-US" sz="1000" dirty="0">
                <a:solidFill>
                  <a:prstClr val="black"/>
                </a:solidFill>
                <a:latin typeface="Ubuntu" panose="020B0504030602030204" pitchFamily="34" charset="0"/>
                <a:ea typeface="Verdana"/>
              </a:rPr>
              <a:t>Master in Communication Networks</a:t>
            </a:r>
          </a:p>
          <a:p>
            <a:pPr marL="171442" lvl="2" indent="-171442" defTabSz="844044" fontAlgn="base">
              <a:spcBef>
                <a:spcPts val="600"/>
              </a:spcBef>
              <a:buClr>
                <a:srgbClr val="272936"/>
              </a:buClr>
              <a:buSzPct val="100000"/>
              <a:buFont typeface="Wingdings" panose="05000000000000000000" pitchFamily="2" charset="2"/>
              <a:buChar char="§"/>
              <a:defRPr/>
            </a:pPr>
            <a:r>
              <a:rPr lang="en-GB" sz="1000" dirty="0">
                <a:solidFill>
                  <a:prstClr val="black"/>
                </a:solidFill>
                <a:cs typeface="Arial" charset="0"/>
              </a:rPr>
              <a:t>Capgemini L2 Industry Certification - Automotive</a:t>
            </a:r>
          </a:p>
          <a:p>
            <a:pPr marL="171442" marR="0" lvl="2" indent="-171442" algn="l" defTabSz="844044" rtl="0" eaLnBrk="1" fontAlgn="base" latinLnBrk="0" hangingPunct="1">
              <a:lnSpc>
                <a:spcPct val="100000"/>
              </a:lnSpc>
              <a:spcBef>
                <a:spcPts val="600"/>
              </a:spcBef>
              <a:spcAft>
                <a:spcPts val="0"/>
              </a:spcAft>
              <a:buClr>
                <a:srgbClr val="272936"/>
              </a:buClr>
              <a:buSzPct val="100000"/>
              <a:buFont typeface="Wingdings" panose="05000000000000000000" pitchFamily="2" charset="2"/>
              <a:buChar char="§"/>
              <a:tabLst/>
              <a:defRPr/>
            </a:pPr>
            <a:endParaRPr lang="en-US" sz="1000" dirty="0">
              <a:solidFill>
                <a:prstClr val="black"/>
              </a:solidFill>
              <a:latin typeface="Ubuntu" panose="020B0504030602030204" pitchFamily="34" charset="0"/>
              <a:ea typeface="Verdana"/>
            </a:endParaRPr>
          </a:p>
        </p:txBody>
      </p:sp>
      <p:sp>
        <p:nvSpPr>
          <p:cNvPr id="34" name="Rectangle 33">
            <a:extLst>
              <a:ext uri="{FF2B5EF4-FFF2-40B4-BE49-F238E27FC236}">
                <a16:creationId xmlns:a16="http://schemas.microsoft.com/office/drawing/2014/main" id="{8C47310E-2F25-4FEE-AF95-CA36238A2C36}"/>
              </a:ext>
            </a:extLst>
          </p:cNvPr>
          <p:cNvSpPr/>
          <p:nvPr/>
        </p:nvSpPr>
        <p:spPr>
          <a:xfrm>
            <a:off x="7419282" y="729377"/>
            <a:ext cx="4363350" cy="6078566"/>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Ubuntu"/>
                <a:ea typeface="+mn-ea"/>
                <a:cs typeface="+mn-cs"/>
              </a:rPr>
              <a:t>      Senior Embedded Software Engineer / Tech Lead Replacement </a:t>
            </a:r>
            <a:r>
              <a:rPr kumimoji="0" lang="en-US" sz="900" i="0" u="none" strike="noStrike" kern="1200" cap="none" spc="0" normalizeH="0" baseline="0" noProof="0" dirty="0">
                <a:ln>
                  <a:noFill/>
                </a:ln>
                <a:solidFill>
                  <a:prstClr val="black"/>
                </a:solidFill>
                <a:effectLst/>
                <a:uLnTx/>
                <a:uFillTx/>
                <a:latin typeface="Ubuntu"/>
                <a:ea typeface="+mn-ea"/>
                <a:cs typeface="+mn-cs"/>
              </a:rPr>
              <a:t>@ Capgemini Services Romania SRL Iasi, RO – Capgemini Engineering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dirty="0">
                <a:solidFill>
                  <a:prstClr val="black"/>
                </a:solidFill>
                <a:latin typeface="Ubuntu"/>
              </a:rPr>
              <a:t>   </a:t>
            </a:r>
            <a:r>
              <a:rPr kumimoji="0" lang="en-US" sz="900" b="0" i="0" u="none" strike="noStrike" kern="1200" cap="none" spc="0" normalizeH="0" baseline="0" noProof="0" dirty="0">
                <a:ln>
                  <a:noFill/>
                </a:ln>
                <a:solidFill>
                  <a:prstClr val="black"/>
                </a:solidFill>
                <a:effectLst/>
                <a:uLnTx/>
                <a:uFillTx/>
                <a:latin typeface="Ubuntu"/>
                <a:ea typeface="+mn-ea"/>
                <a:cs typeface="+mn-cs"/>
              </a:rPr>
              <a:t>   </a:t>
            </a:r>
            <a:r>
              <a:rPr kumimoji="0" lang="en-US" sz="900" b="0" i="1" u="none" strike="noStrike" kern="1200" cap="none" spc="0" normalizeH="0" baseline="0" noProof="0" dirty="0">
                <a:ln>
                  <a:noFill/>
                </a:ln>
                <a:solidFill>
                  <a:prstClr val="black"/>
                </a:solidFill>
                <a:effectLst/>
                <a:uLnTx/>
                <a:uFillTx/>
                <a:latin typeface="Ubuntu"/>
                <a:ea typeface="+mn-ea"/>
                <a:cs typeface="+mn-cs"/>
              </a:rPr>
              <a:t>(Apr 2022 – Nov 2025)</a:t>
            </a:r>
            <a:endParaRPr kumimoji="0" lang="en-US" sz="900" b="0" i="0" u="none" strike="noStrike" kern="1200" cap="none" spc="0" normalizeH="0" baseline="0" noProof="0" dirty="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Optimized embedded modules → Reduced memory usage by 20%, improved responsiveness, and enabled smoother OEM integration.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Boosted collaboration efficiency → Cut issue resolution time by 30% across cross‑functional teams.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Improved software quality → Enhanced CAPL test coverage, reducing post‑release bugs by 30%; implemented Google Test strategies, increasing code dependability by 25%.</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Delivered reliable integration → Oversaw embedded functionality with Trace32 and </a:t>
            </a:r>
            <a:r>
              <a:rPr kumimoji="0" lang="en-US" sz="900" b="0" i="0" u="none" strike="noStrike" kern="1200" cap="none" spc="0" normalizeH="0" baseline="0" noProof="0" dirty="0" err="1">
                <a:ln>
                  <a:noFill/>
                </a:ln>
                <a:solidFill>
                  <a:prstClr val="black"/>
                </a:solidFill>
                <a:effectLst/>
                <a:uLnTx/>
                <a:uFillTx/>
                <a:latin typeface="Ubuntu"/>
                <a:ea typeface="+mn-ea"/>
                <a:cs typeface="+mn-cs"/>
              </a:rPr>
              <a:t>CANoe</a:t>
            </a:r>
            <a:r>
              <a:rPr kumimoji="0" lang="en-US" sz="900" b="0" i="0" u="none" strike="noStrike" kern="1200" cap="none" spc="0" normalizeH="0" baseline="0" noProof="0" dirty="0">
                <a:ln>
                  <a:noFill/>
                </a:ln>
                <a:solidFill>
                  <a:prstClr val="black"/>
                </a:solidFill>
                <a:effectLst/>
                <a:uLnTx/>
                <a:uFillTx/>
                <a:latin typeface="Ubuntu"/>
                <a:ea typeface="+mn-ea"/>
                <a:cs typeface="+mn-cs"/>
              </a:rPr>
              <a:t>, ensuring successful system validation.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Ensured coding excellence → Reviewed and delivered 300+ Git commits, achieving 100% coding standards compliance and reducing debugging time by 25%.</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Technical leadership → Acted as Tech Lead, resolving critical roadblocks, mentoring new members, and maintaining project continuity with direct client engagement.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Strong development expertise → Designed and implemented modular C/C++ functionalities with focus on maintainability.</a:t>
            </a:r>
          </a:p>
          <a:p>
            <a:pPr marR="0" lvl="0" algn="l" defTabSz="914400" rtl="0" eaLnBrk="1" fontAlgn="auto" latinLnBrk="0" hangingPunct="1">
              <a:lnSpc>
                <a:spcPct val="100000"/>
              </a:lnSpc>
              <a:spcBef>
                <a:spcPts val="0"/>
              </a:spcBef>
              <a:spcAft>
                <a:spcPts val="0"/>
              </a:spcAft>
              <a:buClrTx/>
              <a:buSzTx/>
              <a:tabLst/>
              <a:defRPr/>
            </a:pPr>
            <a:r>
              <a:rPr lang="en-US" sz="900" b="1" dirty="0">
                <a:solidFill>
                  <a:prstClr val="black"/>
                </a:solidFill>
                <a:latin typeface="Ubuntu"/>
              </a:rPr>
              <a:t>      </a:t>
            </a:r>
            <a:r>
              <a:rPr kumimoji="0" lang="en-US" sz="900" b="1" i="0" u="none" strike="noStrike" kern="1200" cap="none" spc="0" normalizeH="0" baseline="0" noProof="0" dirty="0">
                <a:ln>
                  <a:noFill/>
                </a:ln>
                <a:solidFill>
                  <a:prstClr val="black"/>
                </a:solidFill>
                <a:effectLst/>
                <a:uLnTx/>
                <a:uFillTx/>
                <a:latin typeface="Ubuntu"/>
                <a:ea typeface="+mn-ea"/>
                <a:cs typeface="+mn-cs"/>
              </a:rPr>
              <a:t>Senior Embedded Software Engineer – Space Platforms</a:t>
            </a:r>
            <a:r>
              <a:rPr kumimoji="0" lang="en-US" sz="900" b="0" i="0" u="none" strike="noStrike" kern="1200" cap="none" spc="0" normalizeH="0" baseline="0" noProof="0" dirty="0">
                <a:ln>
                  <a:noFill/>
                </a:ln>
                <a:solidFill>
                  <a:prstClr val="black"/>
                </a:solidFill>
                <a:effectLst/>
                <a:uLnTx/>
                <a:uFillTx/>
                <a:latin typeface="Ubuntu"/>
                <a:ea typeface="+mn-ea"/>
                <a:cs typeface="+mn-cs"/>
              </a:rPr>
              <a:t> </a:t>
            </a:r>
            <a:r>
              <a:rPr lang="en-US" sz="900" dirty="0">
                <a:solidFill>
                  <a:prstClr val="black"/>
                </a:solidFill>
                <a:latin typeface="Ubuntu"/>
              </a:rPr>
              <a:t>@ ENEA Software Development Services SRL Iasi, RO</a:t>
            </a:r>
          </a:p>
          <a:p>
            <a:pPr marR="0" lvl="0" algn="l" defTabSz="914400" rtl="0" eaLnBrk="1" fontAlgn="auto" latinLnBrk="0" hangingPunct="1">
              <a:lnSpc>
                <a:spcPct val="100000"/>
              </a:lnSpc>
              <a:spcBef>
                <a:spcPts val="0"/>
              </a:spcBef>
              <a:spcAft>
                <a:spcPts val="0"/>
              </a:spcAft>
              <a:buClrTx/>
              <a:buSzTx/>
              <a:tabLst/>
              <a:defRPr/>
            </a:pPr>
            <a:r>
              <a:rPr kumimoji="0" lang="en-US" sz="900" b="0" i="1" u="none" strike="noStrike" kern="1200" cap="none" spc="0" normalizeH="0" baseline="0" noProof="0" dirty="0">
                <a:ln>
                  <a:noFill/>
                </a:ln>
                <a:solidFill>
                  <a:prstClr val="black"/>
                </a:solidFill>
                <a:effectLst/>
                <a:uLnTx/>
                <a:uFillTx/>
                <a:latin typeface="Ubuntu"/>
                <a:ea typeface="+mn-ea"/>
                <a:cs typeface="+mn-cs"/>
              </a:rPr>
              <a:t>      (Apr 2021 – Apr 2022)</a:t>
            </a:r>
            <a:endParaRPr kumimoji="0" lang="en-US" sz="900" b="0" i="0" u="none" strike="noStrike" kern="1200" cap="none" spc="0" normalizeH="0" baseline="0" noProof="0" dirty="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Developed C/C++ software for space platforms, including state machines and </a:t>
            </a:r>
            <a:r>
              <a:rPr kumimoji="0" lang="en-US" sz="900" b="0" i="0" u="none" strike="noStrike" kern="1200" cap="none" spc="0" normalizeH="0" baseline="0" noProof="0" dirty="0" err="1">
                <a:ln>
                  <a:noFill/>
                </a:ln>
                <a:solidFill>
                  <a:prstClr val="black"/>
                </a:solidFill>
                <a:effectLst/>
                <a:uLnTx/>
                <a:uFillTx/>
                <a:latin typeface="Ubuntu"/>
                <a:ea typeface="+mn-ea"/>
                <a:cs typeface="+mn-cs"/>
              </a:rPr>
              <a:t>SpaceWire</a:t>
            </a:r>
            <a:r>
              <a:rPr kumimoji="0" lang="en-US" sz="900" b="0" i="0" u="none" strike="noStrike" kern="1200" cap="none" spc="0" normalizeH="0" baseline="0" noProof="0" dirty="0">
                <a:ln>
                  <a:noFill/>
                </a:ln>
                <a:solidFill>
                  <a:prstClr val="black"/>
                </a:solidFill>
                <a:effectLst/>
                <a:uLnTx/>
                <a:uFillTx/>
                <a:latin typeface="Ubuntu"/>
                <a:ea typeface="+mn-ea"/>
                <a:cs typeface="+mn-cs"/>
              </a:rPr>
              <a:t> data handling.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Used Xilinx SDK and Zynq-7000 SoC for communication between </a:t>
            </a:r>
            <a:r>
              <a:rPr kumimoji="0" lang="en-US" sz="900" b="0" i="0" u="none" strike="noStrike" kern="1200" cap="none" spc="0" normalizeH="0" baseline="0" noProof="0" dirty="0" err="1">
                <a:ln>
                  <a:noFill/>
                </a:ln>
                <a:solidFill>
                  <a:prstClr val="black"/>
                </a:solidFill>
                <a:effectLst/>
                <a:uLnTx/>
                <a:uFillTx/>
                <a:latin typeface="Ubuntu"/>
                <a:ea typeface="+mn-ea"/>
                <a:cs typeface="+mn-cs"/>
              </a:rPr>
              <a:t>RendezVous</a:t>
            </a:r>
            <a:r>
              <a:rPr kumimoji="0" lang="en-US" sz="900" b="0" i="0" u="none" strike="noStrike" kern="1200" cap="none" spc="0" normalizeH="0" baseline="0" noProof="0" dirty="0">
                <a:ln>
                  <a:noFill/>
                </a:ln>
                <a:solidFill>
                  <a:prstClr val="black"/>
                </a:solidFill>
                <a:effectLst/>
                <a:uLnTx/>
                <a:uFillTx/>
                <a:latin typeface="Ubuntu"/>
                <a:ea typeface="+mn-ea"/>
                <a:cs typeface="+mn-cs"/>
              </a:rPr>
              <a:t> Sensor and On-Board Computer.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Followed Agile methodology and version control with Git.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Ubuntu"/>
                <a:ea typeface="+mn-ea"/>
                <a:cs typeface="+mn-cs"/>
              </a:rPr>
              <a:t>       Senior Embedded Software Engineer – Automotive Platforms</a:t>
            </a:r>
            <a:r>
              <a:rPr kumimoji="0" lang="en-US" sz="900" b="0" i="0" u="none" strike="noStrike" kern="1200" cap="none" spc="0" normalizeH="0" baseline="0" noProof="0" dirty="0">
                <a:ln>
                  <a:noFill/>
                </a:ln>
                <a:solidFill>
                  <a:prstClr val="black"/>
                </a:solidFill>
                <a:effectLst/>
                <a:uLnTx/>
                <a:uFillTx/>
                <a:latin typeface="Ubuntu"/>
                <a:ea typeface="+mn-ea"/>
                <a:cs typeface="+mn-cs"/>
              </a:rPr>
              <a:t> @ Visteon Electronics EOOD Sofia, BG – contractor from RINF.TECH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black"/>
                </a:solidFill>
                <a:effectLst/>
                <a:uLnTx/>
                <a:uFillTx/>
                <a:latin typeface="Ubuntu"/>
                <a:ea typeface="+mn-ea"/>
                <a:cs typeface="+mn-cs"/>
              </a:rPr>
              <a:t>      (Jun 2014 – May 2020)</a:t>
            </a:r>
            <a:endParaRPr kumimoji="0" lang="en-US" sz="900" b="0" i="0" u="none" strike="noStrike" kern="1200" cap="none" spc="0" normalizeH="0" baseline="0" noProof="0" dirty="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Developed and tested components like Speedometer, Odometer, and Language Settings using C/C++.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Designed unit tests with </a:t>
            </a:r>
            <a:r>
              <a:rPr kumimoji="0" lang="en-US" sz="900" b="0" i="0" u="none" strike="noStrike" kern="1200" cap="none" spc="0" normalizeH="0" baseline="0" noProof="0" dirty="0" err="1">
                <a:ln>
                  <a:noFill/>
                </a:ln>
                <a:solidFill>
                  <a:prstClr val="black"/>
                </a:solidFill>
                <a:effectLst/>
                <a:uLnTx/>
                <a:uFillTx/>
                <a:latin typeface="Ubuntu"/>
                <a:ea typeface="+mn-ea"/>
                <a:cs typeface="+mn-cs"/>
              </a:rPr>
              <a:t>VectorCAST</a:t>
            </a:r>
            <a:r>
              <a:rPr kumimoji="0" lang="en-US" sz="900" b="0" i="0" u="none" strike="noStrike" kern="1200" cap="none" spc="0" normalizeH="0" baseline="0" noProof="0" dirty="0">
                <a:ln>
                  <a:noFill/>
                </a:ln>
                <a:solidFill>
                  <a:prstClr val="black"/>
                </a:solidFill>
                <a:effectLst/>
                <a:uLnTx/>
                <a:uFillTx/>
                <a:latin typeface="Ubuntu"/>
                <a:ea typeface="+mn-ea"/>
                <a:cs typeface="+mn-cs"/>
              </a:rPr>
              <a:t> and implemented IPC for HMI communication.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Used </a:t>
            </a:r>
            <a:r>
              <a:rPr kumimoji="0" lang="en-US" sz="900" b="0" i="0" u="none" strike="noStrike" kern="1200" cap="none" spc="0" normalizeH="0" baseline="0" noProof="0" dirty="0" err="1">
                <a:ln>
                  <a:noFill/>
                </a:ln>
                <a:solidFill>
                  <a:prstClr val="black"/>
                </a:solidFill>
                <a:effectLst/>
                <a:uLnTx/>
                <a:uFillTx/>
                <a:latin typeface="Ubuntu"/>
                <a:ea typeface="+mn-ea"/>
                <a:cs typeface="+mn-cs"/>
              </a:rPr>
              <a:t>Autosar</a:t>
            </a:r>
            <a:r>
              <a:rPr kumimoji="0" lang="en-US" sz="900" b="0" i="0" u="none" strike="noStrike" kern="1200" cap="none" spc="0" normalizeH="0" baseline="0" noProof="0" dirty="0">
                <a:ln>
                  <a:noFill/>
                </a:ln>
                <a:solidFill>
                  <a:prstClr val="black"/>
                </a:solidFill>
                <a:effectLst/>
                <a:uLnTx/>
                <a:uFillTx/>
                <a:latin typeface="Ubuntu"/>
                <a:ea typeface="+mn-ea"/>
                <a:cs typeface="+mn-cs"/>
              </a:rPr>
              <a:t> RTE, Franca IDL, </a:t>
            </a:r>
            <a:r>
              <a:rPr kumimoji="0" lang="en-US" sz="900" b="0" i="0" u="none" strike="noStrike" kern="1200" cap="none" spc="0" normalizeH="0" baseline="0" noProof="0" dirty="0" err="1">
                <a:ln>
                  <a:noFill/>
                </a:ln>
                <a:solidFill>
                  <a:prstClr val="black"/>
                </a:solidFill>
                <a:effectLst/>
                <a:uLnTx/>
                <a:uFillTx/>
                <a:latin typeface="Ubuntu"/>
                <a:ea typeface="+mn-ea"/>
                <a:cs typeface="+mn-cs"/>
              </a:rPr>
              <a:t>CANoe</a:t>
            </a:r>
            <a:r>
              <a:rPr kumimoji="0" lang="en-US" sz="900" b="0" i="0" u="none" strike="noStrike" kern="1200" cap="none" spc="0" normalizeH="0" baseline="0" noProof="0" dirty="0">
                <a:ln>
                  <a:noFill/>
                </a:ln>
                <a:solidFill>
                  <a:prstClr val="black"/>
                </a:solidFill>
                <a:effectLst/>
                <a:uLnTx/>
                <a:uFillTx/>
                <a:latin typeface="Ubuntu"/>
                <a:ea typeface="+mn-ea"/>
                <a:cs typeface="+mn-cs"/>
              </a:rPr>
              <a:t>, Jenkins, and RTC in V-cycle and Agile environments.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Ubuntu"/>
                <a:ea typeface="+mn-ea"/>
                <a:cs typeface="+mn-cs"/>
              </a:rPr>
              <a:t>      Embedded Software Engineer</a:t>
            </a:r>
            <a:r>
              <a:rPr kumimoji="0" lang="en-US" sz="900" b="0" i="0" u="none" strike="noStrike" kern="1200" cap="none" spc="0" normalizeH="0" baseline="0" noProof="0" dirty="0">
                <a:ln>
                  <a:noFill/>
                </a:ln>
                <a:solidFill>
                  <a:prstClr val="black"/>
                </a:solidFill>
                <a:effectLst/>
                <a:uLnTx/>
                <a:uFillTx/>
                <a:latin typeface="Ubuntu"/>
                <a:ea typeface="+mn-ea"/>
                <a:cs typeface="+mn-cs"/>
              </a:rPr>
              <a:t> @ Continental Automotive Romania SRL Iasi, RO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prstClr val="black"/>
                </a:solidFill>
                <a:effectLst/>
                <a:uLnTx/>
                <a:uFillTx/>
                <a:latin typeface="Ubuntu"/>
                <a:ea typeface="+mn-ea"/>
                <a:cs typeface="+mn-cs"/>
              </a:rPr>
              <a:t>      (Aug 2010 – May 2014)</a:t>
            </a:r>
            <a:endParaRPr kumimoji="0" lang="en-US" sz="900" b="0" i="0" u="none" strike="noStrike" kern="1200" cap="none" spc="0" normalizeH="0" baseline="0" noProof="0" dirty="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Configured diagnostic faults, CAN channels, and error management instances.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Designed and executed unit tests, documented results, and integrated source 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Ubuntu"/>
                <a:ea typeface="+mn-ea"/>
                <a:cs typeface="+mn-cs"/>
              </a:rPr>
              <a:t>Worked with CCP/XCP protocols, OSEK RTOS, and had strong powertrain system understanding.</a:t>
            </a:r>
          </a:p>
          <a:p>
            <a:pPr marL="0" marR="0" lvl="2" indent="0" algn="l" defTabSz="844044" rtl="0" eaLnBrk="1" fontAlgn="base" latinLnBrk="0" hangingPunct="1">
              <a:lnSpc>
                <a:spcPct val="95000"/>
              </a:lnSpc>
              <a:spcBef>
                <a:spcPts val="100"/>
              </a:spcBef>
              <a:spcAft>
                <a:spcPts val="100"/>
              </a:spcAft>
              <a:buClr>
                <a:srgbClr val="272936"/>
              </a:buClr>
              <a:buSzPct val="100000"/>
              <a:buFontTx/>
              <a:buNone/>
              <a:tabLst/>
              <a:defRPr/>
            </a:pPr>
            <a:endParaRPr kumimoji="0" lang="en-IN" sz="900" b="0" i="0" u="none" strike="noStrike" kern="1200" cap="none" spc="0" normalizeH="0" baseline="0" noProof="0" dirty="0">
              <a:ln>
                <a:noFill/>
              </a:ln>
              <a:solidFill>
                <a:srgbClr val="000000"/>
              </a:solidFill>
              <a:effectLst/>
              <a:uLnTx/>
              <a:uFillTx/>
              <a:latin typeface="Ubuntu" panose="020B0504030602030204" pitchFamily="34" charset="0"/>
              <a:ea typeface="+mn-ea"/>
              <a:cs typeface="Calibri"/>
            </a:endParaRPr>
          </a:p>
        </p:txBody>
      </p:sp>
      <p:cxnSp>
        <p:nvCxnSpPr>
          <p:cNvPr id="8" name="Straight Connector 7">
            <a:extLst>
              <a:ext uri="{FF2B5EF4-FFF2-40B4-BE49-F238E27FC236}">
                <a16:creationId xmlns:a16="http://schemas.microsoft.com/office/drawing/2014/main" id="{02EEE27D-4343-4852-B168-3F3EEDD951E6}"/>
              </a:ext>
            </a:extLst>
          </p:cNvPr>
          <p:cNvCxnSpPr>
            <a:cxnSpLocks/>
          </p:cNvCxnSpPr>
          <p:nvPr/>
        </p:nvCxnSpPr>
        <p:spPr>
          <a:xfrm>
            <a:off x="4151202" y="3631058"/>
            <a:ext cx="2889301" cy="0"/>
          </a:xfrm>
          <a:prstGeom prst="line">
            <a:avLst/>
          </a:prstGeom>
          <a:ln w="12700" cap="rnd">
            <a:solidFill>
              <a:schemeClr val="tx1"/>
            </a:solidFill>
            <a:prstDash val="dash"/>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3A6EF77-F475-4D0E-B434-A672058DBAAE}"/>
              </a:ext>
            </a:extLst>
          </p:cNvPr>
          <p:cNvCxnSpPr>
            <a:cxnSpLocks/>
          </p:cNvCxnSpPr>
          <p:nvPr/>
        </p:nvCxnSpPr>
        <p:spPr>
          <a:xfrm>
            <a:off x="7239885" y="564517"/>
            <a:ext cx="0" cy="5906609"/>
          </a:xfrm>
          <a:prstGeom prst="line">
            <a:avLst/>
          </a:prstGeom>
          <a:ln w="12700" cap="rnd">
            <a:solidFill>
              <a:schemeClr val="tx1"/>
            </a:solidFill>
            <a:prstDash val="dash"/>
            <a:roun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E07231F-B1C2-B1BD-C982-2095E6C94BE0}"/>
              </a:ext>
            </a:extLst>
          </p:cNvPr>
          <p:cNvSpPr txBox="1"/>
          <p:nvPr/>
        </p:nvSpPr>
        <p:spPr>
          <a:xfrm>
            <a:off x="213029" y="1368000"/>
            <a:ext cx="3656811" cy="4802179"/>
          </a:xfrm>
          <a:prstGeom prst="rect">
            <a:avLst/>
          </a:prstGeom>
          <a:noFill/>
        </p:spPr>
        <p:txBody>
          <a:bodyPr wrap="square" lIns="0" tIns="0" rIns="0" bIns="0" numCol="1">
            <a:noAutofit/>
          </a:bodyPr>
          <a:lstStyle/>
          <a:p>
            <a:pPr marL="0" marR="0" lvl="0" indent="0" algn="l" defTabSz="914358" rtl="0" eaLnBrk="1" fontAlgn="auto" latinLnBrk="0" hangingPunct="1">
              <a:lnSpc>
                <a:spcPct val="100000"/>
              </a:lnSpc>
              <a:spcBef>
                <a:spcPts val="100"/>
              </a:spcBef>
              <a:spcAft>
                <a:spcPts val="100"/>
              </a:spcAft>
              <a:buClrTx/>
              <a:buSzTx/>
              <a:buFontTx/>
              <a:buNone/>
              <a:tabLst/>
              <a:defRPr/>
            </a:pPr>
            <a:r>
              <a:rPr kumimoji="0" lang="pl-PL" sz="1200" b="1" i="0" u="none" strike="noStrike" kern="1200" cap="none" spc="0" normalizeH="0" baseline="0" noProof="0" dirty="0">
                <a:ln>
                  <a:noFill/>
                </a:ln>
                <a:solidFill>
                  <a:srgbClr val="12ABDB"/>
                </a:solidFill>
                <a:effectLst/>
                <a:uLnTx/>
                <a:uFillTx/>
                <a:latin typeface="Ubuntu" panose="020B0504030602030204" pitchFamily="34" charset="0"/>
                <a:ea typeface="Verdana"/>
                <a:cs typeface="+mn-cs"/>
              </a:rPr>
              <a:t>EXPECTED </a:t>
            </a:r>
            <a:r>
              <a:rPr kumimoji="0" lang="en-US" sz="1200" b="1" i="0" u="none" strike="noStrike" kern="1200" cap="none" spc="0" normalizeH="0" baseline="0" noProof="0" dirty="0">
                <a:ln>
                  <a:noFill/>
                </a:ln>
                <a:solidFill>
                  <a:srgbClr val="12ABDB"/>
                </a:solidFill>
                <a:effectLst/>
                <a:uLnTx/>
                <a:uFillTx/>
                <a:latin typeface="Ubuntu" panose="020B0504030602030204" pitchFamily="34" charset="0"/>
                <a:ea typeface="Verdana"/>
                <a:cs typeface="+mn-cs"/>
              </a:rPr>
              <a:t>ROLE: </a:t>
            </a:r>
            <a:br>
              <a:rPr kumimoji="0" lang="pl-PL" sz="1200" b="1" i="0" u="none" strike="noStrike" kern="1200" cap="none" spc="0" normalizeH="0" baseline="0" noProof="0" dirty="0">
                <a:ln>
                  <a:noFill/>
                </a:ln>
                <a:solidFill>
                  <a:srgbClr val="12ABDB"/>
                </a:solidFill>
                <a:effectLst/>
                <a:uLnTx/>
                <a:uFillTx/>
                <a:latin typeface="Ubuntu" panose="020B0504030602030204" pitchFamily="34" charset="0"/>
                <a:ea typeface="Verdana"/>
                <a:cs typeface="+mn-cs"/>
              </a:rPr>
            </a:br>
            <a:r>
              <a:rPr kumimoji="0" lang="en-US" sz="1200" b="1" i="0" u="none" strike="noStrike" kern="1200" cap="none" spc="0" normalizeH="0" baseline="0" noProof="0" dirty="0">
                <a:ln>
                  <a:noFill/>
                </a:ln>
                <a:solidFill>
                  <a:srgbClr val="12ABDB"/>
                </a:solidFill>
                <a:effectLst/>
                <a:uLnTx/>
                <a:uFillTx/>
                <a:latin typeface="Ubuntu" panose="020B0504030602030204" pitchFamily="34" charset="0"/>
                <a:ea typeface="Verdana"/>
                <a:cs typeface="+mn-cs"/>
              </a:rPr>
              <a:t>Senior Embedded Software Engineer</a:t>
            </a:r>
            <a:br>
              <a:rPr kumimoji="0" lang="en-US" sz="1200" b="1" i="0" u="none" strike="noStrike" kern="1200" cap="none" spc="0" normalizeH="0" baseline="0" noProof="0" dirty="0">
                <a:ln>
                  <a:noFill/>
                </a:ln>
                <a:solidFill>
                  <a:srgbClr val="12ABDB"/>
                </a:solidFill>
                <a:effectLst/>
                <a:uLnTx/>
                <a:uFillTx/>
                <a:latin typeface="Ubuntu" panose="020B0504030602030204" pitchFamily="34" charset="0"/>
                <a:ea typeface="Verdana"/>
                <a:cs typeface="+mn-cs"/>
              </a:rPr>
            </a:br>
            <a:endParaRPr kumimoji="0" lang="pl-PL" sz="1200" b="1" i="0" u="none" strike="noStrike" kern="1200" cap="none" spc="0" normalizeH="0" baseline="0" noProof="0" dirty="0">
              <a:ln>
                <a:noFill/>
              </a:ln>
              <a:solidFill>
                <a:srgbClr val="12ABDB"/>
              </a:solidFill>
              <a:effectLst/>
              <a:uLnTx/>
              <a:uFillTx/>
              <a:latin typeface="Ubuntu" panose="020B0504030602030204" pitchFamily="34" charset="0"/>
              <a:ea typeface="Verdana"/>
              <a:cs typeface="+mn-cs"/>
            </a:endParaRPr>
          </a:p>
          <a:p>
            <a:pPr marL="0" marR="0" lvl="0" indent="0" algn="l" defTabSz="914358" rtl="0" eaLnBrk="1" fontAlgn="auto" latinLnBrk="0" hangingPunct="1">
              <a:lnSpc>
                <a:spcPct val="100000"/>
              </a:lnSpc>
              <a:spcBef>
                <a:spcPts val="100"/>
              </a:spcBef>
              <a:spcAft>
                <a:spcPts val="10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rPr>
              <a:t>KEY COMPETENCE</a:t>
            </a:r>
            <a:r>
              <a:rPr kumimoji="0" lang="pl-PL" sz="1200" b="1"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rPr>
              <a:t>S</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Embedded C SW development</a:t>
            </a:r>
          </a:p>
          <a:p>
            <a:pPr marL="0" marR="0" lvl="0" indent="0" algn="l" defTabSz="914358" rtl="0" eaLnBrk="1" fontAlgn="auto" latinLnBrk="0" hangingPunct="1">
              <a:lnSpc>
                <a:spcPct val="100000"/>
              </a:lnSpc>
              <a:spcBef>
                <a:spcPts val="100"/>
              </a:spcBef>
              <a:spcAft>
                <a:spcPts val="100"/>
              </a:spcAft>
              <a:buClrTx/>
              <a:buSzTx/>
              <a:buFontTx/>
              <a:buNone/>
              <a:tabLst/>
              <a:defRPr/>
            </a:pPr>
            <a:endParaRPr kumimoji="0" lang="pl-PL" sz="1200" b="1"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endParaRPr>
          </a:p>
          <a:p>
            <a:pPr marL="0" marR="0" lvl="0" indent="0" algn="l" defTabSz="914358" rtl="0" eaLnBrk="1" fontAlgn="auto" latinLnBrk="0" hangingPunct="1">
              <a:lnSpc>
                <a:spcPct val="100000"/>
              </a:lnSpc>
              <a:spcBef>
                <a:spcPts val="100"/>
              </a:spcBef>
              <a:spcAft>
                <a:spcPts val="100"/>
              </a:spcAft>
              <a:buClrTx/>
              <a:buSzTx/>
              <a:buFontTx/>
              <a:buNone/>
              <a:tabLst/>
              <a:defRPr/>
            </a:pPr>
            <a:r>
              <a:rPr kumimoji="0" lang="en-IN" sz="1200" b="1"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rPr>
              <a:t>SKILLS</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C</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Automotive industry</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AUTOSAR classic platform</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err="1">
                <a:solidFill>
                  <a:prstClr val="white"/>
                </a:solidFill>
                <a:latin typeface="Ubuntu" panose="020B0504030602030204" pitchFamily="34" charset="0"/>
                <a:ea typeface="Verdana" panose="020B0604030504040204" pitchFamily="34" charset="0"/>
              </a:rPr>
              <a:t>CANoe</a:t>
            </a:r>
            <a:endParaRPr lang="en-US" sz="1200" dirty="0">
              <a:solidFill>
                <a:prstClr val="white"/>
              </a:solidFill>
              <a:latin typeface="Ubuntu" panose="020B0504030602030204" pitchFamily="34" charset="0"/>
              <a:ea typeface="Verdana" panose="020B0604030504040204" pitchFamily="34" charset="0"/>
            </a:endParaRP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Git</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GitLab</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Microsoft Visual Studio Code</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Atlassian Jira</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INCA</a:t>
            </a:r>
          </a:p>
          <a:p>
            <a:pPr marL="171442" marR="0" lvl="0" indent="-171442" defTabSz="914358" fontAlgn="auto">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Lauterbach TRACE32</a:t>
            </a:r>
          </a:p>
          <a:p>
            <a:pPr marL="171442" indent="-171442" defTabSz="914358">
              <a:spcBef>
                <a:spcPts val="100"/>
              </a:spcBef>
              <a:spcAft>
                <a:spcPts val="100"/>
              </a:spcAft>
              <a:buFont typeface="Arial" panose="020B0604020202020204" pitchFamily="34" charset="0"/>
              <a:buChar char="•"/>
              <a:defRPr/>
            </a:pPr>
            <a:endParaRPr lang="en-US" sz="1200" dirty="0">
              <a:solidFill>
                <a:prstClr val="white"/>
              </a:solidFill>
              <a:latin typeface="Ubuntu" panose="020B0504030602030204" pitchFamily="34" charset="0"/>
              <a:ea typeface="Verdana" panose="020B0604030504040204" pitchFamily="34" charset="0"/>
            </a:endParaRPr>
          </a:p>
          <a:p>
            <a:pPr marL="0" marR="0" lvl="0" indent="0" algn="l" defTabSz="914358" rtl="0" eaLnBrk="1" fontAlgn="auto" latinLnBrk="0" hangingPunct="1">
              <a:lnSpc>
                <a:spcPct val="100000"/>
              </a:lnSpc>
              <a:spcBef>
                <a:spcPts val="100"/>
              </a:spcBef>
              <a:spcAft>
                <a:spcPts val="100"/>
              </a:spcAft>
              <a:buClrTx/>
              <a:buSzTx/>
              <a:buFontTx/>
              <a:buNone/>
              <a:tabLst/>
              <a:defRPr/>
            </a:pPr>
            <a:r>
              <a:rPr kumimoji="0" lang="pl-PL" sz="1200" b="1"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rPr>
              <a:t>LANGUAGES</a:t>
            </a:r>
            <a:endParaRPr kumimoji="0" lang="en-US" sz="1200" b="1"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endParaRPr>
          </a:p>
          <a:p>
            <a:pPr marL="171442" marR="0" lvl="0" indent="-171442" algn="l" defTabSz="914358"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rPr>
              <a:t>Romanian native</a:t>
            </a:r>
          </a:p>
          <a:p>
            <a:pPr marL="171442" marR="0" lvl="0" indent="-171442" algn="l" defTabSz="914358"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rPr>
              <a:t>English C2</a:t>
            </a:r>
          </a:p>
          <a:p>
            <a:pPr marL="171442" marR="0" lvl="0" indent="-171442" algn="l" defTabSz="914358" rtl="0" eaLnBrk="1" fontAlgn="auto" latinLnBrk="0" hangingPunct="1">
              <a:lnSpc>
                <a:spcPct val="100000"/>
              </a:lnSpc>
              <a:spcBef>
                <a:spcPts val="100"/>
              </a:spcBef>
              <a:spcAft>
                <a:spcPts val="100"/>
              </a:spcAft>
              <a:buClrTx/>
              <a:buSzTx/>
              <a:buFont typeface="Arial" panose="020B0604020202020204" pitchFamily="34" charset="0"/>
              <a:buChar char="•"/>
              <a:tabLst/>
              <a:defRPr/>
            </a:pPr>
            <a:r>
              <a:rPr lang="en-US" sz="1200" dirty="0">
                <a:solidFill>
                  <a:prstClr val="white"/>
                </a:solidFill>
                <a:latin typeface="Ubuntu" panose="020B0504030602030204" pitchFamily="34" charset="0"/>
                <a:ea typeface="Verdana" panose="020B0604030504040204" pitchFamily="34" charset="0"/>
              </a:rPr>
              <a:t>German B1</a:t>
            </a:r>
            <a:endParaRPr kumimoji="0" lang="pl-PL" sz="1200" b="0" i="0" u="none" strike="noStrike" kern="1200" cap="none" spc="0" normalizeH="0" baseline="0" noProof="0" dirty="0">
              <a:ln>
                <a:noFill/>
              </a:ln>
              <a:solidFill>
                <a:prstClr val="white"/>
              </a:solidFill>
              <a:effectLst/>
              <a:uLnTx/>
              <a:uFillTx/>
              <a:latin typeface="Ubuntu" panose="020B0504030602030204" pitchFamily="34" charset="0"/>
              <a:ea typeface="Verdana" panose="020B0604030504040204" pitchFamily="34" charset="0"/>
              <a:cs typeface="+mn-cs"/>
            </a:endParaRPr>
          </a:p>
        </p:txBody>
      </p:sp>
      <p:sp>
        <p:nvSpPr>
          <p:cNvPr id="4" name="TextBox 3">
            <a:extLst>
              <a:ext uri="{FF2B5EF4-FFF2-40B4-BE49-F238E27FC236}">
                <a16:creationId xmlns:a16="http://schemas.microsoft.com/office/drawing/2014/main" id="{8553B36F-5176-6965-A019-64AD98D70720}"/>
              </a:ext>
            </a:extLst>
          </p:cNvPr>
          <p:cNvSpPr txBox="1"/>
          <p:nvPr/>
        </p:nvSpPr>
        <p:spPr>
          <a:xfrm>
            <a:off x="4069228" y="461005"/>
            <a:ext cx="2971275" cy="276999"/>
          </a:xfrm>
          <a:prstGeom prst="rect">
            <a:avLst/>
          </a:prstGeom>
          <a:noFill/>
        </p:spPr>
        <p:txBody>
          <a:bodyPr wrap="square" rtlCol="0">
            <a:spAutoFit/>
          </a:bodyPr>
          <a:lstStyle/>
          <a:p>
            <a:pPr marL="0" lvl="2" algn="just" defTabSz="957712">
              <a:spcBef>
                <a:spcPts val="600"/>
              </a:spcBef>
              <a:buClr>
                <a:srgbClr val="0098C7"/>
              </a:buClr>
              <a:defRPr/>
            </a:pPr>
            <a:r>
              <a:rPr lang="fr-FR" sz="1200" b="1" noProof="1">
                <a:solidFill>
                  <a:srgbClr val="12ABDB"/>
                </a:solidFill>
                <a:latin typeface="Ubuntu" panose="020B0504030602030204" pitchFamily="34" charset="0"/>
                <a:ea typeface="Verdana"/>
                <a:cs typeface="Verdana" panose="020B0604030504040204" pitchFamily="34" charset="0"/>
              </a:rPr>
              <a:t>PROFESSIONAL BACKGROUND</a:t>
            </a:r>
            <a:endParaRPr lang="pl-PL" sz="1000" noProof="1">
              <a:solidFill>
                <a:prstClr val="black"/>
              </a:solidFill>
              <a:latin typeface="Ubuntu" panose="020B0504030602030204" pitchFamily="34" charset="0"/>
              <a:ea typeface="Verdana"/>
            </a:endParaRPr>
          </a:p>
        </p:txBody>
      </p:sp>
      <p:sp>
        <p:nvSpPr>
          <p:cNvPr id="3" name="TextBox 2">
            <a:extLst>
              <a:ext uri="{FF2B5EF4-FFF2-40B4-BE49-F238E27FC236}">
                <a16:creationId xmlns:a16="http://schemas.microsoft.com/office/drawing/2014/main" id="{F2ADEDC7-77AB-670B-6A67-E144E36DCE5F}"/>
              </a:ext>
            </a:extLst>
          </p:cNvPr>
          <p:cNvSpPr txBox="1"/>
          <p:nvPr/>
        </p:nvSpPr>
        <p:spPr>
          <a:xfrm>
            <a:off x="4049236" y="3769089"/>
            <a:ext cx="2440092" cy="276999"/>
          </a:xfrm>
          <a:prstGeom prst="rect">
            <a:avLst/>
          </a:prstGeom>
          <a:noFill/>
        </p:spPr>
        <p:txBody>
          <a:bodyPr wrap="none" rtlCol="0">
            <a:spAutoFit/>
          </a:bodyPr>
          <a:lstStyle/>
          <a:p>
            <a:r>
              <a:rPr lang="fr-FR" sz="1200" b="1" noProof="1">
                <a:solidFill>
                  <a:srgbClr val="12ABDB"/>
                </a:solidFill>
                <a:latin typeface="Ubuntu" panose="020B0504030602030204" pitchFamily="34" charset="0"/>
                <a:ea typeface="Verdana"/>
                <a:cs typeface="Verdana" panose="020B0604030504040204" pitchFamily="34" charset="0"/>
              </a:rPr>
              <a:t>EDUCATION &amp; CERTIFICATION</a:t>
            </a:r>
          </a:p>
        </p:txBody>
      </p:sp>
      <p:sp>
        <p:nvSpPr>
          <p:cNvPr id="5" name="TextBox 4">
            <a:extLst>
              <a:ext uri="{FF2B5EF4-FFF2-40B4-BE49-F238E27FC236}">
                <a16:creationId xmlns:a16="http://schemas.microsoft.com/office/drawing/2014/main" id="{EBEFB9B7-4489-021E-E541-C284F830EE7A}"/>
              </a:ext>
            </a:extLst>
          </p:cNvPr>
          <p:cNvSpPr txBox="1"/>
          <p:nvPr/>
        </p:nvSpPr>
        <p:spPr>
          <a:xfrm>
            <a:off x="7328920" y="452377"/>
            <a:ext cx="1606530" cy="276999"/>
          </a:xfrm>
          <a:prstGeom prst="rect">
            <a:avLst/>
          </a:prstGeom>
          <a:noFill/>
        </p:spPr>
        <p:txBody>
          <a:bodyPr wrap="none" rtlCol="0">
            <a:spAutoFit/>
          </a:bodyPr>
          <a:lstStyle/>
          <a:p>
            <a:r>
              <a:rPr lang="pl-PL" sz="1200" b="1" noProof="1">
                <a:solidFill>
                  <a:srgbClr val="12ABDB"/>
                </a:solidFill>
                <a:latin typeface="Ubuntu" panose="020B0504030602030204" pitchFamily="34" charset="0"/>
                <a:ea typeface="Verdana"/>
                <a:cs typeface="Verdana" panose="020B0604030504040204" pitchFamily="34" charset="0"/>
              </a:rPr>
              <a:t>MAIN REFERENCES</a:t>
            </a:r>
            <a:endParaRPr lang="fr-FR" sz="1200" b="1" noProof="1">
              <a:solidFill>
                <a:srgbClr val="12ABDB"/>
              </a:solidFill>
              <a:latin typeface="Ubuntu" panose="020B0504030602030204" pitchFamily="34" charset="0"/>
              <a:ea typeface="Verdana"/>
              <a:cs typeface="Verdana" panose="020B0604030504040204" pitchFamily="34" charset="0"/>
            </a:endParaRPr>
          </a:p>
        </p:txBody>
      </p:sp>
    </p:spTree>
    <p:extLst>
      <p:ext uri="{BB962C8B-B14F-4D97-AF65-F5344CB8AC3E}">
        <p14:creationId xmlns:p14="http://schemas.microsoft.com/office/powerpoint/2010/main" val="1580218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over options_Section">
  <a:themeElements>
    <a:clrScheme name="Capgemini NEW">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1" id="{18B0FA0E-52BA-4F3F-B2FD-88B4C8061DF8}" vid="{B5884A08-8118-4F4B-BE23-42A2365375DD}"/>
    </a:ext>
  </a:extLst>
</a:theme>
</file>

<file path=ppt/theme/theme2.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8379B9164345D4B9FEA71B5C6DA0501" ma:contentTypeVersion="12" ma:contentTypeDescription="Create a new document." ma:contentTypeScope="" ma:versionID="25a509c6a27b952c0dae28f88f47ece3">
  <xsd:schema xmlns:xsd="http://www.w3.org/2001/XMLSchema" xmlns:xs="http://www.w3.org/2001/XMLSchema" xmlns:p="http://schemas.microsoft.com/office/2006/metadata/properties" xmlns:ns2="cddac4ca-1f9a-48ec-a052-f880be6be43c" xmlns:ns3="70ba0579-5a3d-4697-904b-f432645238e6" targetNamespace="http://schemas.microsoft.com/office/2006/metadata/properties" ma:root="true" ma:fieldsID="3585157dcfd28b9b0093472ca559abd9" ns2:_="" ns3:_="">
    <xsd:import namespace="cddac4ca-1f9a-48ec-a052-f880be6be43c"/>
    <xsd:import namespace="70ba0579-5a3d-4697-904b-f432645238e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dac4ca-1f9a-48ec-a052-f880be6be4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0ba0579-5a3d-4697-904b-f432645238e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65F6DA-EDFD-4C3F-B2EB-EDE359E124E2}">
  <ds:schemaRefs>
    <ds:schemaRef ds:uri="http://schemas.microsoft.com/office/2006/documentManagement/types"/>
    <ds:schemaRef ds:uri="http://purl.org/dc/elements/1.1/"/>
    <ds:schemaRef ds:uri="http://schemas.openxmlformats.org/package/2006/metadata/core-properties"/>
    <ds:schemaRef ds:uri="http://www.w3.org/XML/1998/namespace"/>
    <ds:schemaRef ds:uri="cddac4ca-1f9a-48ec-a052-f880be6be43c"/>
    <ds:schemaRef ds:uri="http://purl.org/dc/terms/"/>
    <ds:schemaRef ds:uri="70ba0579-5a3d-4697-904b-f432645238e6"/>
    <ds:schemaRef ds:uri="http://schemas.microsoft.com/office/2006/metadata/properties"/>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93B09ECE-D1C0-42A5-B69E-8C88764DB9F3}">
  <ds:schemaRefs>
    <ds:schemaRef ds:uri="http://schemas.microsoft.com/sharepoint/v3/contenttype/forms"/>
  </ds:schemaRefs>
</ds:datastoreItem>
</file>

<file path=customXml/itemProps3.xml><?xml version="1.0" encoding="utf-8"?>
<ds:datastoreItem xmlns:ds="http://schemas.openxmlformats.org/officeDocument/2006/customXml" ds:itemID="{DB6846BF-D536-4981-BB4E-DAFD3540F1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dac4ca-1f9a-48ec-a052-f880be6be43c"/>
    <ds:schemaRef ds:uri="70ba0579-5a3d-4697-904b-f432645238e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emplate>ppt-Capgemini_MasterTemplate</Template>
  <TotalTime>5537</TotalTime>
  <Words>539</Words>
  <Application>Microsoft Office PowerPoint</Application>
  <PresentationFormat>Ecran lat</PresentationFormat>
  <Paragraphs>54</Paragraphs>
  <Slides>1</Slides>
  <Notes>0</Notes>
  <HiddenSlides>0</HiddenSlides>
  <MMClips>0</MMClips>
  <ScaleCrop>false</ScaleCrop>
  <HeadingPairs>
    <vt:vector size="8" baseType="variant">
      <vt:variant>
        <vt:lpstr>Fonturi utilizate</vt:lpstr>
      </vt:variant>
      <vt:variant>
        <vt:i4>3</vt:i4>
      </vt:variant>
      <vt:variant>
        <vt:lpstr>Temă</vt:lpstr>
      </vt:variant>
      <vt:variant>
        <vt:i4>1</vt:i4>
      </vt:variant>
      <vt:variant>
        <vt:lpstr>Servere OLE încorporate</vt:lpstr>
      </vt:variant>
      <vt:variant>
        <vt:i4>1</vt:i4>
      </vt:variant>
      <vt:variant>
        <vt:lpstr>Titluri diapozitive</vt:lpstr>
      </vt:variant>
      <vt:variant>
        <vt:i4>1</vt:i4>
      </vt:variant>
    </vt:vector>
  </HeadingPairs>
  <TitlesOfParts>
    <vt:vector size="6" baseType="lpstr">
      <vt:lpstr>Arial</vt:lpstr>
      <vt:lpstr>Ubuntu</vt:lpstr>
      <vt:lpstr>Wingdings</vt:lpstr>
      <vt:lpstr>Cover options_Section</vt:lpstr>
      <vt:lpstr>think-cell Slide</vt:lpstr>
      <vt:lpstr>Prezentare PowerPoint</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VOINA, Cristian</dc:creator>
  <cp:lastModifiedBy>Robert Buzabrici-Filipescu</cp:lastModifiedBy>
  <cp:revision>159</cp:revision>
  <dcterms:created xsi:type="dcterms:W3CDTF">2021-06-17T16:25:34Z</dcterms:created>
  <dcterms:modified xsi:type="dcterms:W3CDTF">2026-02-20T12:08:56Z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0x01010028379B9164345D4B9FEA71B5C6DA0501</vt:lpwstr>
  </property>
</Properties>
</file>