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4" r:id="rId4"/>
  </p:sldMasterIdLst>
  <p:notesMasterIdLst>
    <p:notesMasterId r:id="rId6"/>
  </p:notesMasterIdLst>
  <p:handoutMasterIdLst>
    <p:handoutMasterId r:id="rId7"/>
  </p:handoutMasterIdLst>
  <p:sldIdLst>
    <p:sldId id="2147480644" r:id="rId5"/>
  </p:sldIdLst>
  <p:sldSz cx="12192000" cy="6858000"/>
  <p:notesSz cx="6858000" cy="9144000"/>
  <p:custDataLst>
    <p:tags r:id="rId8"/>
  </p:custDataLst>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5" orient="horz" pos="2341" userDrawn="1">
          <p15:clr>
            <a:srgbClr val="A4A3A4"/>
          </p15:clr>
        </p15:guide>
        <p15:guide id="6"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heeler, Scott" initials="WS" lastIdx="9" clrIdx="0">
    <p:extLst>
      <p:ext uri="{19B8F6BF-5375-455C-9EA6-DF929625EA0E}">
        <p15:presenceInfo xmlns:p15="http://schemas.microsoft.com/office/powerpoint/2012/main" userId="S::scott.wheeler@capgemini.com::197b48de-3d2f-4ab4-9492-85eadd3871f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A80"/>
    <a:srgbClr val="2B0A3D"/>
    <a:srgbClr val="ECECEC"/>
    <a:srgbClr val="0F878A"/>
    <a:srgbClr val="14596B"/>
    <a:srgbClr val="A6A6A6"/>
    <a:srgbClr val="57CF80"/>
    <a:srgbClr val="12ABDB"/>
    <a:srgbClr val="E30021"/>
    <a:srgbClr val="007D7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9E446B-10DE-4E33-A9F9-27FA9A1A7BDA}" v="53" dt="2025-09-08T11:23:44.3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39" autoAdjust="0"/>
    <p:restoredTop sz="94660"/>
  </p:normalViewPr>
  <p:slideViewPr>
    <p:cSldViewPr snapToGrid="0">
      <p:cViewPr varScale="1">
        <p:scale>
          <a:sx n="111" d="100"/>
          <a:sy n="111" d="100"/>
        </p:scale>
        <p:origin x="732" y="96"/>
      </p:cViewPr>
      <p:guideLst>
        <p:guide orient="horz" pos="2341"/>
        <p:guide pos="3840"/>
      </p:guideLst>
    </p:cSldViewPr>
  </p:slideViewPr>
  <p:notesTextViewPr>
    <p:cViewPr>
      <p:scale>
        <a:sx n="1" d="1"/>
        <a:sy n="1" d="1"/>
      </p:scale>
      <p:origin x="0" y="0"/>
    </p:cViewPr>
  </p:notesTextViewPr>
  <p:notesViewPr>
    <p:cSldViewPr snapToGrid="0">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commentAuthors" Target="commentAuthors.xml"/><Relationship Id="rId14"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D8B6225-3E94-4525-8747-A8CEEE07C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sz="900"/>
          </a:p>
        </p:txBody>
      </p:sp>
      <p:sp>
        <p:nvSpPr>
          <p:cNvPr id="3" name="Date Placeholder 2">
            <a:extLst>
              <a:ext uri="{FF2B5EF4-FFF2-40B4-BE49-F238E27FC236}">
                <a16:creationId xmlns:a16="http://schemas.microsoft.com/office/drawing/2014/main" id="{1EE33FD8-B984-44FE-83F0-5C989EE6249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C988DC-9DE3-4390-97AB-D61B85DACE57}" type="datetimeFigureOut">
              <a:rPr lang="pt-PT" sz="900" smtClean="0"/>
              <a:pPr/>
              <a:t>08/09/2025</a:t>
            </a:fld>
            <a:endParaRPr lang="pt-PT" sz="900"/>
          </a:p>
        </p:txBody>
      </p:sp>
      <p:sp>
        <p:nvSpPr>
          <p:cNvPr id="4" name="Footer Placeholder 3">
            <a:extLst>
              <a:ext uri="{FF2B5EF4-FFF2-40B4-BE49-F238E27FC236}">
                <a16:creationId xmlns:a16="http://schemas.microsoft.com/office/drawing/2014/main" id="{88AD1E4F-EFF7-4551-A0B7-35D2A74F4F4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sz="900"/>
          </a:p>
        </p:txBody>
      </p:sp>
      <p:sp>
        <p:nvSpPr>
          <p:cNvPr id="5" name="Slide Number Placeholder 4">
            <a:extLst>
              <a:ext uri="{FF2B5EF4-FFF2-40B4-BE49-F238E27FC236}">
                <a16:creationId xmlns:a16="http://schemas.microsoft.com/office/drawing/2014/main" id="{5C3F35C8-35E9-48DD-971F-B2366CC5B7D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F190BF9-40D8-49B5-87EF-599BB2C7EE93}" type="slidenum">
              <a:rPr lang="pt-PT" sz="900" smtClean="0"/>
              <a:pPr/>
              <a:t>‹#›</a:t>
            </a:fld>
            <a:endParaRPr lang="pt-PT" sz="900"/>
          </a:p>
        </p:txBody>
      </p:sp>
    </p:spTree>
    <p:extLst>
      <p:ext uri="{BB962C8B-B14F-4D97-AF65-F5344CB8AC3E}">
        <p14:creationId xmlns:p14="http://schemas.microsoft.com/office/powerpoint/2010/main" val="36093076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Posição do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900"/>
            </a:lvl1pPr>
          </a:lstStyle>
          <a:p>
            <a:endParaRPr lang="pt-BR"/>
          </a:p>
        </p:txBody>
      </p:sp>
      <p:sp>
        <p:nvSpPr>
          <p:cNvPr id="3" name="Marcador de Posição d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900"/>
            </a:lvl1pPr>
          </a:lstStyle>
          <a:p>
            <a:fld id="{0835B8F7-DAC4-4931-8AED-4356A8B2FD64}" type="datetimeFigureOut">
              <a:rPr lang="pt-BR" smtClean="0"/>
              <a:pPr/>
              <a:t>08/09/2025</a:t>
            </a:fld>
            <a:endParaRPr lang="pt-BR"/>
          </a:p>
        </p:txBody>
      </p:sp>
      <p:sp>
        <p:nvSpPr>
          <p:cNvPr id="4" name="Marcador de Posição da Imagem do Diapositivo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Marcador de Posição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PT"/>
              <a:t>Insert comments</a:t>
            </a:r>
            <a:endParaRPr lang="pt-BR"/>
          </a:p>
        </p:txBody>
      </p:sp>
      <p:sp>
        <p:nvSpPr>
          <p:cNvPr id="6" name="Marcador de Posição do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900"/>
            </a:lvl1pPr>
          </a:lstStyle>
          <a:p>
            <a:endParaRPr lang="pt-BR"/>
          </a:p>
        </p:txBody>
      </p:sp>
      <p:sp>
        <p:nvSpPr>
          <p:cNvPr id="7" name="Marcador de Posição do Número do Diapositivo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900"/>
            </a:lvl1pPr>
          </a:lstStyle>
          <a:p>
            <a:fld id="{C0696B5C-12A0-4042-B4D0-BD3B9A4F58C6}" type="slidenum">
              <a:rPr lang="pt-BR" smtClean="0"/>
              <a:pPr/>
              <a:t>‹#›</a:t>
            </a:fld>
            <a:endParaRPr lang="pt-BR"/>
          </a:p>
        </p:txBody>
      </p:sp>
    </p:spTree>
    <p:extLst>
      <p:ext uri="{BB962C8B-B14F-4D97-AF65-F5344CB8AC3E}">
        <p14:creationId xmlns:p14="http://schemas.microsoft.com/office/powerpoint/2010/main" val="1575338179"/>
      </p:ext>
    </p:extLst>
  </p:cSld>
  <p:clrMap bg1="lt1" tx1="dk1" bg2="lt2" tx2="dk2" accent1="accent1" accent2="accent2" accent3="accent3" accent4="accent4" accent5="accent5" accent6="accent6" hlink="hlink" folHlink="folHlink"/>
  <p:notesStyle>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APITAL TITLE ONLY">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1ED280F-765A-1F56-D5A9-32F3A479D0CE}"/>
              </a:ext>
            </a:extLst>
          </p:cNvPr>
          <p:cNvSpPr/>
          <p:nvPr userDrawn="1"/>
        </p:nvSpPr>
        <p:spPr>
          <a:xfrm>
            <a:off x="1" y="0"/>
            <a:ext cx="4060371"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58" rtl="0" eaLnBrk="1" fontAlgn="auto" latinLnBrk="0" hangingPunct="1">
              <a:lnSpc>
                <a:spcPct val="100000"/>
              </a:lnSpc>
              <a:spcBef>
                <a:spcPts val="0"/>
              </a:spcBef>
              <a:spcAft>
                <a:spcPts val="0"/>
              </a:spcAft>
              <a:buClrTx/>
              <a:buSzTx/>
              <a:buFontTx/>
              <a:buNone/>
              <a:tabLst/>
              <a:defRPr/>
            </a:pPr>
            <a:endParaRPr kumimoji="0" lang="en-GB" sz="1600" b="0" i="0" u="none" strike="noStrike" kern="1200" cap="none" spc="0" normalizeH="0" baseline="0" noProof="0">
              <a:ln>
                <a:noFill/>
              </a:ln>
              <a:solidFill>
                <a:prstClr val="white"/>
              </a:solidFill>
              <a:effectLst/>
              <a:uLnTx/>
              <a:uFillTx/>
              <a:latin typeface="Ubuntu" panose="020B0504030602030204" pitchFamily="34" charset="0"/>
              <a:ea typeface="+mn-ea"/>
              <a:cs typeface="+mn-cs"/>
            </a:endParaRPr>
          </a:p>
        </p:txBody>
      </p:sp>
      <p:sp>
        <p:nvSpPr>
          <p:cNvPr id="5" name="Rectangle: Top Corners Rounded 4">
            <a:extLst>
              <a:ext uri="{FF2B5EF4-FFF2-40B4-BE49-F238E27FC236}">
                <a16:creationId xmlns:a16="http://schemas.microsoft.com/office/drawing/2014/main" id="{2440DD15-7A77-5E6C-7502-E124DC47709C}"/>
              </a:ext>
            </a:extLst>
          </p:cNvPr>
          <p:cNvSpPr/>
          <p:nvPr userDrawn="1"/>
        </p:nvSpPr>
        <p:spPr>
          <a:xfrm rot="5400000">
            <a:off x="1599746" y="-1035427"/>
            <a:ext cx="512539" cy="3712028"/>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274301" rtlCol="0" anchor="ctr"/>
          <a:lstStyle/>
          <a:p>
            <a:pPr>
              <a:defRPr/>
            </a:pPr>
            <a:endParaRPr kumimoji="0" lang="en-GB" sz="1600" b="1" i="0" u="none" strike="noStrike" kern="1200" cap="none" spc="0" normalizeH="0" baseline="0" noProof="0">
              <a:ln>
                <a:noFill/>
              </a:ln>
              <a:solidFill>
                <a:prstClr val="white"/>
              </a:solidFill>
              <a:effectLst/>
              <a:uLnTx/>
              <a:uFillTx/>
              <a:latin typeface="Ubuntu" panose="020B0504030602030204" pitchFamily="34" charset="0"/>
              <a:ea typeface="+mn-ea"/>
              <a:cs typeface="+mn-cs"/>
            </a:endParaRPr>
          </a:p>
        </p:txBody>
      </p:sp>
      <p:sp>
        <p:nvSpPr>
          <p:cNvPr id="8" name="Rectangle 27">
            <a:extLst>
              <a:ext uri="{FF2B5EF4-FFF2-40B4-BE49-F238E27FC236}">
                <a16:creationId xmlns:a16="http://schemas.microsoft.com/office/drawing/2014/main" id="{3372B03E-174C-6696-65D5-CB0740714F91}"/>
              </a:ext>
            </a:extLst>
          </p:cNvPr>
          <p:cNvSpPr/>
          <p:nvPr userDrawn="1"/>
        </p:nvSpPr>
        <p:spPr>
          <a:xfrm>
            <a:off x="-139708" y="6629322"/>
            <a:ext cx="3410847" cy="219456"/>
          </a:xfrm>
          <a:prstGeom prst="rect">
            <a:avLst/>
          </a:prstGeom>
        </p:spPr>
        <p:txBody>
          <a:bodyPr wrap="square" lIns="0" tIns="0" rIns="0" bIns="0" anchor="ctr" anchorCtr="0">
            <a:noAutofit/>
          </a:bodyPr>
          <a:lstStyle/>
          <a:p>
            <a:pPr marL="0" marR="0" lvl="0" indent="0" algn="ctr" defTabSz="914358" rtl="0" eaLnBrk="1" fontAlgn="auto" latinLnBrk="0" hangingPunct="1">
              <a:lnSpc>
                <a:spcPct val="100000"/>
              </a:lnSpc>
              <a:spcBef>
                <a:spcPts val="0"/>
              </a:spcBef>
              <a:spcAft>
                <a:spcPts val="0"/>
              </a:spcAft>
              <a:buClrTx/>
              <a:buSzTx/>
              <a:buFontTx/>
              <a:buNone/>
              <a:tabLst/>
              <a:defRPr/>
            </a:pPr>
            <a:endParaRPr lang="en-IN" sz="700" i="1" kern="0">
              <a:solidFill>
                <a:schemeClr val="bg1">
                  <a:lumMod val="75000"/>
                </a:schemeClr>
              </a:solidFill>
              <a:latin typeface="Ubuntu" panose="020B0504030602030204" pitchFamily="34" charset="0"/>
              <a:cs typeface="Arial" panose="020B0604020202020204" pitchFamily="34" charset="0"/>
            </a:endParaRPr>
          </a:p>
        </p:txBody>
      </p:sp>
      <p:sp>
        <p:nvSpPr>
          <p:cNvPr id="3" name="Footer Placeholder 2">
            <a:extLst>
              <a:ext uri="{FF2B5EF4-FFF2-40B4-BE49-F238E27FC236}">
                <a16:creationId xmlns:a16="http://schemas.microsoft.com/office/drawing/2014/main" id="{3437CD22-1D5A-0243-CE53-4087E878238F}"/>
              </a:ext>
            </a:extLst>
          </p:cNvPr>
          <p:cNvSpPr>
            <a:spLocks noGrp="1"/>
          </p:cNvSpPr>
          <p:nvPr>
            <p:ph type="ftr" sz="quarter" idx="10"/>
          </p:nvPr>
        </p:nvSpPr>
        <p:spPr>
          <a:xfrm>
            <a:off x="8699239" y="6583279"/>
            <a:ext cx="3492761" cy="253158"/>
          </a:xfrm>
        </p:spPr>
        <p:txBody>
          <a:bodyPr/>
          <a:lstStyle/>
          <a:p>
            <a:r>
              <a:rPr lang="pl-PL"/>
              <a:t>Company Confdential </a:t>
            </a:r>
            <a:r>
              <a:rPr lang="en-US"/>
              <a:t>© Capgemini 2024. All rights reserved</a:t>
            </a:r>
            <a:endParaRPr lang="pl-PL"/>
          </a:p>
        </p:txBody>
      </p:sp>
    </p:spTree>
    <p:extLst>
      <p:ext uri="{BB962C8B-B14F-4D97-AF65-F5344CB8AC3E}">
        <p14:creationId xmlns:p14="http://schemas.microsoft.com/office/powerpoint/2010/main" val="198556849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ags" Target="../tags/tag2.xml"/><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1.emf"/><Relationship Id="rId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1" name="Object 20" hidden="1"/>
          <p:cNvGraphicFramePr>
            <a:graphicFrameLocks noChangeAspect="1"/>
          </p:cNvGraphicFramePr>
          <p:nvPr>
            <p:custDataLst>
              <p:tags r:id="rId3"/>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1" name="Object 20"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314978218"/>
      </p:ext>
    </p:extLst>
  </p:cSld>
  <p:clrMap bg1="lt1" tx1="dk1" bg2="lt2" tx2="dk2" accent1="accent1" accent2="accent2" accent3="accent3" accent4="accent4" accent5="accent5" accent6="accent6" hlink="hlink" folHlink="folHlink"/>
  <p:sldLayoutIdLst>
    <p:sldLayoutId id="2147483963" r:id="rId1"/>
  </p:sldLayoutIdLst>
  <p:hf sldNum="0" hdr="0" dt="0"/>
  <p:txStyles>
    <p:titleStyle>
      <a:lvl1pPr marL="0" marR="0" indent="0" algn="l" defTabSz="914400" rtl="0" eaLnBrk="1" fontAlgn="auto" latinLnBrk="0" hangingPunct="1">
        <a:lnSpc>
          <a:spcPct val="90000"/>
        </a:lnSpc>
        <a:spcBef>
          <a:spcPct val="0"/>
        </a:spcBef>
        <a:spcAft>
          <a:spcPts val="0"/>
        </a:spcAft>
        <a:buClrTx/>
        <a:buSzTx/>
        <a:buFontTx/>
        <a:buNone/>
        <a:tabLst/>
        <a:defRPr kumimoji="0" lang="en-US" sz="3000" b="0" i="0" u="none" strike="noStrike" kern="1200" cap="none" spc="0" normalizeH="0" baseline="0" noProof="0" dirty="0">
          <a:ln>
            <a:noFill/>
          </a:ln>
          <a:solidFill>
            <a:schemeClr val="accent1"/>
          </a:solidFill>
          <a:effectLst/>
          <a:uLnTx/>
          <a:uFillTx/>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tx1"/>
          </a:solidFill>
          <a:latin typeface="+mj-lt"/>
          <a:ea typeface="+mn-ea"/>
          <a:cs typeface="+mn-cs"/>
        </a:defRPr>
      </a:lvl1pPr>
      <a:lvl2pPr marL="539750" indent="-179388"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j-lt"/>
          <a:ea typeface="+mn-ea"/>
          <a:cs typeface="+mn-cs"/>
        </a:defRPr>
      </a:lvl2pPr>
      <a:lvl3pPr marL="900113" indent="-179388" algn="l" defTabSz="914400" rtl="0" eaLnBrk="1" latinLnBrk="0" hangingPunct="1">
        <a:lnSpc>
          <a:spcPct val="90000"/>
        </a:lnSpc>
        <a:spcBef>
          <a:spcPts val="500"/>
        </a:spcBef>
        <a:buClr>
          <a:schemeClr val="accent2"/>
        </a:buClr>
        <a:buFont typeface="Arial" panose="020B0604020202020204" pitchFamily="34" charset="0"/>
        <a:buChar char="•"/>
        <a:defRPr sz="1600" kern="1200">
          <a:solidFill>
            <a:schemeClr val="tx1"/>
          </a:solidFill>
          <a:latin typeface="+mj-lt"/>
          <a:ea typeface="+mn-ea"/>
          <a:cs typeface="+mn-cs"/>
        </a:defRPr>
      </a:lvl3pPr>
      <a:lvl4pPr marL="1260475" indent="-179388" algn="l" defTabSz="914400" rtl="0" eaLnBrk="1" latinLnBrk="0" hangingPunct="1">
        <a:lnSpc>
          <a:spcPct val="90000"/>
        </a:lnSpc>
        <a:spcBef>
          <a:spcPts val="500"/>
        </a:spcBef>
        <a:buClr>
          <a:schemeClr val="accent3"/>
        </a:buClr>
        <a:buFont typeface="Arial" panose="020B0604020202020204" pitchFamily="34" charset="0"/>
        <a:buChar char="•"/>
        <a:defRPr sz="1400" kern="1200">
          <a:solidFill>
            <a:schemeClr val="tx1"/>
          </a:solidFill>
          <a:latin typeface="+mj-lt"/>
          <a:ea typeface="+mn-ea"/>
          <a:cs typeface="+mn-cs"/>
        </a:defRPr>
      </a:lvl4pPr>
      <a:lvl5pPr marL="1620838" indent="-179388" algn="l" defTabSz="914400" rtl="0" eaLnBrk="1" latinLnBrk="0" hangingPunct="1">
        <a:lnSpc>
          <a:spcPct val="90000"/>
        </a:lnSpc>
        <a:spcBef>
          <a:spcPts val="500"/>
        </a:spcBef>
        <a:buClr>
          <a:schemeClr val="accent5"/>
        </a:buClr>
        <a:buFont typeface="Arial" panose="020B0604020202020204" pitchFamily="34" charset="0"/>
        <a:buChar char="•"/>
        <a:defRPr sz="14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4070" userDrawn="1">
          <p15:clr>
            <a:srgbClr val="F26B43"/>
          </p15:clr>
        </p15:guide>
        <p15:guide id="4" pos="3840" userDrawn="1">
          <p15:clr>
            <a:srgbClr val="F26B43"/>
          </p15:clr>
        </p15:guide>
        <p15:guide id="5" pos="255" userDrawn="1">
          <p15:clr>
            <a:srgbClr val="F26B43"/>
          </p15:clr>
        </p15:guide>
        <p15:guide id="6" pos="7423" userDrawn="1">
          <p15:clr>
            <a:srgbClr val="F26B43"/>
          </p15:clr>
        </p15:guide>
        <p15:guide id="7" orient="horz" pos="245" userDrawn="1">
          <p15:clr>
            <a:srgbClr val="F26B43"/>
          </p15:clr>
        </p15:guide>
        <p15:guide id="8" orient="horz" pos="706" userDrawn="1">
          <p15:clr>
            <a:srgbClr val="F26B43"/>
          </p15:clr>
        </p15:guide>
        <p15:guide id="9" orient="horz" pos="83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Top Corners Rounded 24">
            <a:extLst>
              <a:ext uri="{FF2B5EF4-FFF2-40B4-BE49-F238E27FC236}">
                <a16:creationId xmlns:a16="http://schemas.microsoft.com/office/drawing/2014/main" id="{F2A58D31-2209-409D-863D-655D6087DBD0}"/>
              </a:ext>
            </a:extLst>
          </p:cNvPr>
          <p:cNvSpPr/>
          <p:nvPr/>
        </p:nvSpPr>
        <p:spPr>
          <a:xfrm rot="5400000">
            <a:off x="1694645" y="-1098172"/>
            <a:ext cx="512503" cy="3837886"/>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274301" rtlCol="0" anchor="ctr"/>
          <a:lstStyle/>
          <a:p>
            <a:pPr lvl="0" defTabSz="914358">
              <a:defRPr/>
            </a:pPr>
            <a:r>
              <a:rPr lang="en-GB" sz="1600" dirty="0">
                <a:solidFill>
                  <a:srgbClr val="FFFFFF"/>
                </a:solidFill>
              </a:rPr>
              <a:t>RBU</a:t>
            </a:r>
            <a:endParaRPr kumimoji="0" lang="en-GB" sz="1600" b="1" i="0" u="none" strike="noStrike" kern="1200" cap="none" spc="0" normalizeH="0" baseline="0" noProof="0" dirty="0">
              <a:ln>
                <a:noFill/>
              </a:ln>
              <a:solidFill>
                <a:prstClr val="white"/>
              </a:solidFill>
              <a:effectLst/>
              <a:uLnTx/>
              <a:uFillTx/>
              <a:latin typeface="Ubuntu" panose="020B0504030602030204" pitchFamily="34" charset="0"/>
              <a:ea typeface="+mn-ea"/>
              <a:cs typeface="+mn-cs"/>
            </a:endParaRPr>
          </a:p>
        </p:txBody>
      </p:sp>
      <p:sp>
        <p:nvSpPr>
          <p:cNvPr id="27" name="Rectangle 26">
            <a:extLst>
              <a:ext uri="{FF2B5EF4-FFF2-40B4-BE49-F238E27FC236}">
                <a16:creationId xmlns:a16="http://schemas.microsoft.com/office/drawing/2014/main" id="{81918A9A-000F-4219-B8A2-364665AC09BE}"/>
              </a:ext>
            </a:extLst>
          </p:cNvPr>
          <p:cNvSpPr/>
          <p:nvPr/>
        </p:nvSpPr>
        <p:spPr>
          <a:xfrm>
            <a:off x="4169366" y="902854"/>
            <a:ext cx="2891123" cy="25901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2" indent="0" defTabSz="957712" rtl="0" eaLnBrk="1" fontAlgn="auto" latinLnBrk="0" hangingPunct="1">
              <a:lnSpc>
                <a:spcPct val="100000"/>
              </a:lnSpc>
              <a:spcBef>
                <a:spcPts val="600"/>
              </a:spcBef>
              <a:spcAft>
                <a:spcPts val="0"/>
              </a:spcAft>
              <a:buClr>
                <a:srgbClr val="0098C7"/>
              </a:buClr>
              <a:buSzTx/>
              <a:buFontTx/>
              <a:buNone/>
              <a:tabLst/>
              <a:defRPr/>
            </a:pPr>
            <a:r>
              <a:rPr lang="en-US" sz="1000" dirty="0">
                <a:solidFill>
                  <a:prstClr val="black"/>
                </a:solidFill>
                <a:latin typeface="Ubuntu" panose="020B0504030602030204" pitchFamily="34" charset="0"/>
                <a:ea typeface="Verdana"/>
              </a:rPr>
              <a:t>Senior Embedded Software Engineer with experience in ANSI C. Basic Knowledge about CAN communication and calibration protocol (CCP/XCP), V-cycle model, Agile methodology, Scrum, good understanding and system overview of powertrain engine vehicles and electric vehicles.</a:t>
            </a:r>
          </a:p>
          <a:p>
            <a:pPr marL="0" marR="0" lvl="2" indent="0" defTabSz="957712" rtl="0" eaLnBrk="1" fontAlgn="auto" latinLnBrk="0" hangingPunct="1">
              <a:lnSpc>
                <a:spcPct val="100000"/>
              </a:lnSpc>
              <a:spcBef>
                <a:spcPts val="600"/>
              </a:spcBef>
              <a:spcAft>
                <a:spcPts val="0"/>
              </a:spcAft>
              <a:buClr>
                <a:srgbClr val="0098C7"/>
              </a:buClr>
              <a:buSzTx/>
              <a:buFontTx/>
              <a:buNone/>
              <a:tabLst/>
              <a:defRPr/>
            </a:pPr>
            <a:r>
              <a:rPr lang="en-US" sz="1000" dirty="0">
                <a:solidFill>
                  <a:prstClr val="black"/>
                </a:solidFill>
                <a:latin typeface="Ubuntu" panose="020B0504030602030204" pitchFamily="34" charset="0"/>
                <a:ea typeface="Verdana"/>
              </a:rPr>
              <a:t>So far in my career I was most productive when working in an environment that is full of people that are able and eager to help whenever is needed, an environment full of communication between the team members.</a:t>
            </a:r>
          </a:p>
        </p:txBody>
      </p:sp>
      <p:sp>
        <p:nvSpPr>
          <p:cNvPr id="33" name="Rectangle 32">
            <a:extLst>
              <a:ext uri="{FF2B5EF4-FFF2-40B4-BE49-F238E27FC236}">
                <a16:creationId xmlns:a16="http://schemas.microsoft.com/office/drawing/2014/main" id="{B102D15C-7FAA-4CA6-A332-7B354179C5B9}"/>
              </a:ext>
            </a:extLst>
          </p:cNvPr>
          <p:cNvSpPr/>
          <p:nvPr/>
        </p:nvSpPr>
        <p:spPr>
          <a:xfrm>
            <a:off x="4149380" y="4114800"/>
            <a:ext cx="2891123" cy="24845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Adaptive </a:t>
            </a:r>
            <a:r>
              <a:rPr lang="en-US" sz="1000" dirty="0" err="1">
                <a:solidFill>
                  <a:prstClr val="black"/>
                </a:solidFill>
                <a:latin typeface="Ubuntu" panose="020B0504030602030204" pitchFamily="34" charset="0"/>
                <a:ea typeface="Verdana"/>
              </a:rPr>
              <a:t>Autosar</a:t>
            </a:r>
            <a:r>
              <a:rPr lang="en-US" sz="1000" dirty="0">
                <a:solidFill>
                  <a:prstClr val="black"/>
                </a:solidFill>
                <a:latin typeface="Ubuntu" panose="020B0504030602030204" pitchFamily="34" charset="0"/>
                <a:ea typeface="Verdana"/>
              </a:rPr>
              <a:t> Training</a:t>
            </a:r>
          </a:p>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Classic </a:t>
            </a:r>
            <a:r>
              <a:rPr lang="en-US" sz="1000" dirty="0" err="1">
                <a:solidFill>
                  <a:prstClr val="black"/>
                </a:solidFill>
                <a:latin typeface="Ubuntu" panose="020B0504030602030204" pitchFamily="34" charset="0"/>
                <a:ea typeface="Verdana"/>
              </a:rPr>
              <a:t>Autosar</a:t>
            </a:r>
            <a:endParaRPr lang="en-US" sz="1000" dirty="0">
              <a:solidFill>
                <a:prstClr val="black"/>
              </a:solidFill>
              <a:latin typeface="Ubuntu" panose="020B0504030602030204" pitchFamily="34" charset="0"/>
              <a:ea typeface="Verdana"/>
            </a:endParaRPr>
          </a:p>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r>
              <a:rPr lang="en-US" sz="1000" dirty="0" err="1">
                <a:solidFill>
                  <a:prstClr val="black"/>
                </a:solidFill>
                <a:latin typeface="Ubuntu" panose="020B0504030602030204" pitchFamily="34" charset="0"/>
                <a:ea typeface="Verdana"/>
              </a:rPr>
              <a:t>Autosar</a:t>
            </a:r>
            <a:r>
              <a:rPr lang="en-US" sz="1000" dirty="0">
                <a:solidFill>
                  <a:prstClr val="black"/>
                </a:solidFill>
                <a:latin typeface="Ubuntu" panose="020B0504030602030204" pitchFamily="34" charset="0"/>
                <a:ea typeface="Verdana"/>
              </a:rPr>
              <a:t> Classic EB </a:t>
            </a:r>
            <a:r>
              <a:rPr lang="en-US" sz="1000" dirty="0" err="1">
                <a:solidFill>
                  <a:prstClr val="black"/>
                </a:solidFill>
                <a:latin typeface="Ubuntu" panose="020B0504030602030204" pitchFamily="34" charset="0"/>
                <a:ea typeface="Verdana"/>
              </a:rPr>
              <a:t>Tressos</a:t>
            </a:r>
            <a:endParaRPr lang="en-US" sz="1000" dirty="0">
              <a:solidFill>
                <a:prstClr val="black"/>
              </a:solidFill>
              <a:latin typeface="Ubuntu" panose="020B0504030602030204" pitchFamily="34" charset="0"/>
              <a:ea typeface="Verdana"/>
            </a:endParaRPr>
          </a:p>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Master in Communication Networks</a:t>
            </a:r>
          </a:p>
          <a:p>
            <a:pPr marL="171442" lvl="2" indent="-171442" defTabSz="844044" fontAlgn="base">
              <a:spcBef>
                <a:spcPts val="600"/>
              </a:spcBef>
              <a:buClr>
                <a:srgbClr val="272936"/>
              </a:buClr>
              <a:buSzPct val="100000"/>
              <a:buFont typeface="Wingdings" panose="05000000000000000000" pitchFamily="2" charset="2"/>
              <a:buChar char="§"/>
              <a:defRPr/>
            </a:pPr>
            <a:r>
              <a:rPr lang="en-GB" sz="1000" dirty="0">
                <a:solidFill>
                  <a:prstClr val="black"/>
                </a:solidFill>
                <a:cs typeface="Arial" charset="0"/>
              </a:rPr>
              <a:t>Capgemini L2 Industry Certification - Automotive</a:t>
            </a:r>
          </a:p>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endParaRPr lang="en-US" sz="1000" dirty="0">
              <a:solidFill>
                <a:prstClr val="black"/>
              </a:solidFill>
              <a:latin typeface="Ubuntu" panose="020B0504030602030204" pitchFamily="34" charset="0"/>
              <a:ea typeface="Verdana"/>
            </a:endParaRPr>
          </a:p>
        </p:txBody>
      </p:sp>
      <p:sp>
        <p:nvSpPr>
          <p:cNvPr id="34" name="Rectangle 33">
            <a:extLst>
              <a:ext uri="{FF2B5EF4-FFF2-40B4-BE49-F238E27FC236}">
                <a16:creationId xmlns:a16="http://schemas.microsoft.com/office/drawing/2014/main" id="{8C47310E-2F25-4FEE-AF95-CA36238A2C36}"/>
              </a:ext>
            </a:extLst>
          </p:cNvPr>
          <p:cNvSpPr/>
          <p:nvPr/>
        </p:nvSpPr>
        <p:spPr>
          <a:xfrm>
            <a:off x="7419282" y="905773"/>
            <a:ext cx="4363350" cy="583287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Senior Embedded Software Engineer – ALT240028 (RSA DEA EZ1)</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kumimoji="0" lang="en-US" sz="900" b="0" i="1" u="none" strike="noStrike" kern="1200" cap="none" spc="0" normalizeH="0" baseline="0" noProof="0" dirty="0">
                <a:ln>
                  <a:noFill/>
                </a:ln>
                <a:solidFill>
                  <a:prstClr val="black"/>
                </a:solidFill>
                <a:effectLst/>
                <a:uLnTx/>
                <a:uFillTx/>
                <a:latin typeface="Ubuntu"/>
                <a:ea typeface="+mn-ea"/>
                <a:cs typeface="+mn-cs"/>
              </a:rPr>
              <a:t>(Jan 2024 – Mar 2025)</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Implemented missing functionalities, updated detailed designs and .</a:t>
            </a:r>
            <a:r>
              <a:rPr kumimoji="0" lang="en-US" sz="900" b="0" i="0" u="none" strike="noStrike" kern="1200" cap="none" spc="0" normalizeH="0" baseline="0" noProof="0" dirty="0" err="1">
                <a:ln>
                  <a:noFill/>
                </a:ln>
                <a:solidFill>
                  <a:prstClr val="black"/>
                </a:solidFill>
                <a:effectLst/>
                <a:uLnTx/>
                <a:uFillTx/>
                <a:latin typeface="Ubuntu"/>
                <a:ea typeface="+mn-ea"/>
                <a:cs typeface="+mn-cs"/>
              </a:rPr>
              <a:t>rnidl</a:t>
            </a:r>
            <a:r>
              <a:rPr kumimoji="0" lang="en-US" sz="900" b="0" i="0" u="none" strike="noStrike" kern="1200" cap="none" spc="0" normalizeH="0" baseline="0" noProof="0" dirty="0">
                <a:ln>
                  <a:noFill/>
                </a:ln>
                <a:solidFill>
                  <a:prstClr val="black"/>
                </a:solidFill>
                <a:effectLst/>
                <a:uLnTx/>
                <a:uFillTx/>
                <a:latin typeface="Ubuntu"/>
                <a:ea typeface="+mn-ea"/>
                <a:cs typeface="+mn-cs"/>
              </a:rPr>
              <a:t> files, and developed unit/component tests using </a:t>
            </a:r>
            <a:r>
              <a:rPr kumimoji="0" lang="en-US" sz="900" b="0" i="0" u="none" strike="noStrike" kern="1200" cap="none" spc="0" normalizeH="0" baseline="0" noProof="0" dirty="0" err="1">
                <a:ln>
                  <a:noFill/>
                </a:ln>
                <a:solidFill>
                  <a:prstClr val="black"/>
                </a:solidFill>
                <a:effectLst/>
                <a:uLnTx/>
                <a:uFillTx/>
                <a:latin typeface="Ubuntu"/>
                <a:ea typeface="+mn-ea"/>
                <a:cs typeface="+mn-cs"/>
              </a:rPr>
              <a:t>GoogleTest</a:t>
            </a:r>
            <a:r>
              <a:rPr kumimoji="0" lang="en-US" sz="900" b="0" i="0" u="none" strike="noStrike" kern="1200" cap="none" spc="0" normalizeH="0" baseline="0" noProof="0" dirty="0">
                <a:ln>
                  <a:noFill/>
                </a:ln>
                <a:solidFill>
                  <a:prstClr val="black"/>
                </a:solidFill>
                <a:effectLst/>
                <a:uLnTx/>
                <a:uFillTx/>
                <a:latin typeface="Ubuntu"/>
                <a:ea typeface="+mn-ea"/>
                <a:cs typeface="+mn-cs"/>
              </a:rPr>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Conducted bench testing, ran test campaigns, and updated CAPL scripts as needed.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Delivered changes via Git and supported bug fixing for Mode Management and Body teams.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Senior Embedded Software Engineer / Tech Lead Replacement</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kumimoji="0" lang="en-US" sz="900" b="0" i="1" u="none" strike="noStrike" kern="1200" cap="none" spc="0" normalizeH="0" baseline="0" noProof="0" dirty="0">
                <a:ln>
                  <a:noFill/>
                </a:ln>
                <a:solidFill>
                  <a:prstClr val="black"/>
                </a:solidFill>
                <a:effectLst/>
                <a:uLnTx/>
                <a:uFillTx/>
                <a:latin typeface="Ubuntu"/>
                <a:ea typeface="+mn-ea"/>
                <a:cs typeface="+mn-cs"/>
              </a:rPr>
              <a:t>(Jun 2022 – Mar 2025)</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Analyzed requirements and created detailed designs in Confluence and .</a:t>
            </a:r>
            <a:r>
              <a:rPr kumimoji="0" lang="en-US" sz="900" b="0" i="0" u="none" strike="noStrike" kern="1200" cap="none" spc="0" normalizeH="0" baseline="0" noProof="0" dirty="0" err="1">
                <a:ln>
                  <a:noFill/>
                </a:ln>
                <a:solidFill>
                  <a:prstClr val="black"/>
                </a:solidFill>
                <a:effectLst/>
                <a:uLnTx/>
                <a:uFillTx/>
                <a:latin typeface="Ubuntu"/>
                <a:ea typeface="+mn-ea"/>
                <a:cs typeface="+mn-cs"/>
              </a:rPr>
              <a:t>rnidl</a:t>
            </a:r>
            <a:r>
              <a:rPr kumimoji="0" lang="en-US" sz="900" b="0" i="0" u="none" strike="noStrike" kern="1200" cap="none" spc="0" normalizeH="0" baseline="0" noProof="0" dirty="0">
                <a:ln>
                  <a:noFill/>
                </a:ln>
                <a:solidFill>
                  <a:prstClr val="black"/>
                </a:solidFill>
                <a:effectLst/>
                <a:uLnTx/>
                <a:uFillTx/>
                <a:latin typeface="Ubuntu"/>
                <a:ea typeface="+mn-ea"/>
                <a:cs typeface="+mn-cs"/>
              </a:rPr>
              <a:t> format.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Implemented source code in Visual Studio Code and developed tests using </a:t>
            </a:r>
            <a:r>
              <a:rPr kumimoji="0" lang="en-US" sz="900" b="0" i="0" u="none" strike="noStrike" kern="1200" cap="none" spc="0" normalizeH="0" baseline="0" noProof="0" dirty="0" err="1">
                <a:ln>
                  <a:noFill/>
                </a:ln>
                <a:solidFill>
                  <a:prstClr val="black"/>
                </a:solidFill>
                <a:effectLst/>
                <a:uLnTx/>
                <a:uFillTx/>
                <a:latin typeface="Ubuntu"/>
                <a:ea typeface="+mn-ea"/>
                <a:cs typeface="+mn-cs"/>
              </a:rPr>
              <a:t>GoogleTest</a:t>
            </a:r>
            <a:r>
              <a:rPr kumimoji="0" lang="en-US" sz="900" b="0" i="0" u="none" strike="noStrike" kern="1200" cap="none" spc="0" normalizeH="0" baseline="0" noProof="0" dirty="0">
                <a:ln>
                  <a:noFill/>
                </a:ln>
                <a:solidFill>
                  <a:prstClr val="black"/>
                </a:solidFill>
                <a:effectLst/>
                <a:uLnTx/>
                <a:uFillTx/>
                <a:latin typeface="Ubuntu"/>
                <a:ea typeface="+mn-ea"/>
                <a:cs typeface="+mn-cs"/>
              </a:rPr>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Reviewed and delivered code via Git, and validated functionality on bench setups.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Senior Embedded Software Engineer – EZ1 Project (Renault)</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kumimoji="0" lang="en-US" sz="900" b="0" i="1" u="none" strike="noStrike" kern="1200" cap="none" spc="0" normalizeH="0" baseline="0" noProof="0" dirty="0">
                <a:ln>
                  <a:noFill/>
                </a:ln>
                <a:solidFill>
                  <a:prstClr val="black"/>
                </a:solidFill>
                <a:effectLst/>
                <a:uLnTx/>
                <a:uFillTx/>
                <a:latin typeface="Ubuntu"/>
                <a:ea typeface="+mn-ea"/>
                <a:cs typeface="+mn-cs"/>
              </a:rPr>
              <a:t>(Apr 2022 – ongoing)</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Contributed to the EZ1 automotive project, focusing on embedded software development and testing.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Supported integration and validation of new features and bug fixes across modules.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Senior Embedded Software Engineer – Space Platforms</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kumimoji="0" lang="en-US" sz="900" b="0" i="1" u="none" strike="noStrike" kern="1200" cap="none" spc="0" normalizeH="0" baseline="0" noProof="0" dirty="0">
                <a:ln>
                  <a:noFill/>
                </a:ln>
                <a:solidFill>
                  <a:prstClr val="black"/>
                </a:solidFill>
                <a:effectLst/>
                <a:uLnTx/>
                <a:uFillTx/>
                <a:latin typeface="Ubuntu"/>
                <a:ea typeface="+mn-ea"/>
                <a:cs typeface="+mn-cs"/>
              </a:rPr>
              <a:t>(Apr 2021 – Apr 2022)</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Developed C/C++ software for space platforms, including state machines and </a:t>
            </a:r>
            <a:r>
              <a:rPr kumimoji="0" lang="en-US" sz="900" b="0" i="0" u="none" strike="noStrike" kern="1200" cap="none" spc="0" normalizeH="0" baseline="0" noProof="0" dirty="0" err="1">
                <a:ln>
                  <a:noFill/>
                </a:ln>
                <a:solidFill>
                  <a:prstClr val="black"/>
                </a:solidFill>
                <a:effectLst/>
                <a:uLnTx/>
                <a:uFillTx/>
                <a:latin typeface="Ubuntu"/>
                <a:ea typeface="+mn-ea"/>
                <a:cs typeface="+mn-cs"/>
              </a:rPr>
              <a:t>SpaceWire</a:t>
            </a:r>
            <a:r>
              <a:rPr kumimoji="0" lang="en-US" sz="900" b="0" i="0" u="none" strike="noStrike" kern="1200" cap="none" spc="0" normalizeH="0" baseline="0" noProof="0" dirty="0">
                <a:ln>
                  <a:noFill/>
                </a:ln>
                <a:solidFill>
                  <a:prstClr val="black"/>
                </a:solidFill>
                <a:effectLst/>
                <a:uLnTx/>
                <a:uFillTx/>
                <a:latin typeface="Ubuntu"/>
                <a:ea typeface="+mn-ea"/>
                <a:cs typeface="+mn-cs"/>
              </a:rPr>
              <a:t> data handling.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Used Xilinx SDK and Zynq-7000 SoC for communication between </a:t>
            </a:r>
            <a:r>
              <a:rPr kumimoji="0" lang="en-US" sz="900" b="0" i="0" u="none" strike="noStrike" kern="1200" cap="none" spc="0" normalizeH="0" baseline="0" noProof="0" dirty="0" err="1">
                <a:ln>
                  <a:noFill/>
                </a:ln>
                <a:solidFill>
                  <a:prstClr val="black"/>
                </a:solidFill>
                <a:effectLst/>
                <a:uLnTx/>
                <a:uFillTx/>
                <a:latin typeface="Ubuntu"/>
                <a:ea typeface="+mn-ea"/>
                <a:cs typeface="+mn-cs"/>
              </a:rPr>
              <a:t>RendezVous</a:t>
            </a:r>
            <a:r>
              <a:rPr kumimoji="0" lang="en-US" sz="900" b="0" i="0" u="none" strike="noStrike" kern="1200" cap="none" spc="0" normalizeH="0" baseline="0" noProof="0" dirty="0">
                <a:ln>
                  <a:noFill/>
                </a:ln>
                <a:solidFill>
                  <a:prstClr val="black"/>
                </a:solidFill>
                <a:effectLst/>
                <a:uLnTx/>
                <a:uFillTx/>
                <a:latin typeface="Ubuntu"/>
                <a:ea typeface="+mn-ea"/>
                <a:cs typeface="+mn-cs"/>
              </a:rPr>
              <a:t> Sensor and On-Board Computer.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Followed Agile methodology and version control with Git.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Senior Embedded Software Engineer – Automotive Platforms</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kumimoji="0" lang="en-US" sz="900" b="0" i="1" u="none" strike="noStrike" kern="1200" cap="none" spc="0" normalizeH="0" baseline="0" noProof="0" dirty="0">
                <a:ln>
                  <a:noFill/>
                </a:ln>
                <a:solidFill>
                  <a:prstClr val="black"/>
                </a:solidFill>
                <a:effectLst/>
                <a:uLnTx/>
                <a:uFillTx/>
                <a:latin typeface="Ubuntu"/>
                <a:ea typeface="+mn-ea"/>
                <a:cs typeface="+mn-cs"/>
              </a:rPr>
              <a:t>(Jun 2014 – May 2020)</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Developed and tested components like Speedometer, Odometer, and Language Settings using C/C++.</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Designed unit tests with </a:t>
            </a:r>
            <a:r>
              <a:rPr kumimoji="0" lang="en-US" sz="900" b="0" i="0" u="none" strike="noStrike" kern="1200" cap="none" spc="0" normalizeH="0" baseline="0" noProof="0" dirty="0" err="1">
                <a:ln>
                  <a:noFill/>
                </a:ln>
                <a:solidFill>
                  <a:prstClr val="black"/>
                </a:solidFill>
                <a:effectLst/>
                <a:uLnTx/>
                <a:uFillTx/>
                <a:latin typeface="Ubuntu"/>
                <a:ea typeface="+mn-ea"/>
                <a:cs typeface="+mn-cs"/>
              </a:rPr>
              <a:t>VectorCAST</a:t>
            </a:r>
            <a:r>
              <a:rPr kumimoji="0" lang="en-US" sz="900" b="0" i="0" u="none" strike="noStrike" kern="1200" cap="none" spc="0" normalizeH="0" baseline="0" noProof="0" dirty="0">
                <a:ln>
                  <a:noFill/>
                </a:ln>
                <a:solidFill>
                  <a:prstClr val="black"/>
                </a:solidFill>
                <a:effectLst/>
                <a:uLnTx/>
                <a:uFillTx/>
                <a:latin typeface="Ubuntu"/>
                <a:ea typeface="+mn-ea"/>
                <a:cs typeface="+mn-cs"/>
              </a:rPr>
              <a:t> and implemented IPC for HMI communication.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Used </a:t>
            </a:r>
            <a:r>
              <a:rPr kumimoji="0" lang="en-US" sz="900" b="0" i="0" u="none" strike="noStrike" kern="1200" cap="none" spc="0" normalizeH="0" baseline="0" noProof="0" dirty="0" err="1">
                <a:ln>
                  <a:noFill/>
                </a:ln>
                <a:solidFill>
                  <a:prstClr val="black"/>
                </a:solidFill>
                <a:effectLst/>
                <a:uLnTx/>
                <a:uFillTx/>
                <a:latin typeface="Ubuntu"/>
                <a:ea typeface="+mn-ea"/>
                <a:cs typeface="+mn-cs"/>
              </a:rPr>
              <a:t>Autosar</a:t>
            </a:r>
            <a:r>
              <a:rPr kumimoji="0" lang="en-US" sz="900" b="0" i="0" u="none" strike="noStrike" kern="1200" cap="none" spc="0" normalizeH="0" baseline="0" noProof="0" dirty="0">
                <a:ln>
                  <a:noFill/>
                </a:ln>
                <a:solidFill>
                  <a:prstClr val="black"/>
                </a:solidFill>
                <a:effectLst/>
                <a:uLnTx/>
                <a:uFillTx/>
                <a:latin typeface="Ubuntu"/>
                <a:ea typeface="+mn-ea"/>
                <a:cs typeface="+mn-cs"/>
              </a:rPr>
              <a:t> RTE, Franca IDL, </a:t>
            </a:r>
            <a:r>
              <a:rPr kumimoji="0" lang="en-US" sz="900" b="0" i="0" u="none" strike="noStrike" kern="1200" cap="none" spc="0" normalizeH="0" baseline="0" noProof="0" dirty="0" err="1">
                <a:ln>
                  <a:noFill/>
                </a:ln>
                <a:solidFill>
                  <a:prstClr val="black"/>
                </a:solidFill>
                <a:effectLst/>
                <a:uLnTx/>
                <a:uFillTx/>
                <a:latin typeface="Ubuntu"/>
                <a:ea typeface="+mn-ea"/>
                <a:cs typeface="+mn-cs"/>
              </a:rPr>
              <a:t>CANoe</a:t>
            </a:r>
            <a:r>
              <a:rPr kumimoji="0" lang="en-US" sz="900" b="0" i="0" u="none" strike="noStrike" kern="1200" cap="none" spc="0" normalizeH="0" baseline="0" noProof="0" dirty="0">
                <a:ln>
                  <a:noFill/>
                </a:ln>
                <a:solidFill>
                  <a:prstClr val="black"/>
                </a:solidFill>
                <a:effectLst/>
                <a:uLnTx/>
                <a:uFillTx/>
                <a:latin typeface="Ubuntu"/>
                <a:ea typeface="+mn-ea"/>
                <a:cs typeface="+mn-cs"/>
              </a:rPr>
              <a:t>, Jenkins, and RTC in V-cycle and Agile environments.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Embedded Software Engineer</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kumimoji="0" lang="en-US" sz="900" b="0" i="1" u="none" strike="noStrike" kern="1200" cap="none" spc="0" normalizeH="0" baseline="0" noProof="0" dirty="0">
                <a:ln>
                  <a:noFill/>
                </a:ln>
                <a:solidFill>
                  <a:prstClr val="black"/>
                </a:solidFill>
                <a:effectLst/>
                <a:uLnTx/>
                <a:uFillTx/>
                <a:latin typeface="Ubuntu"/>
                <a:ea typeface="+mn-ea"/>
                <a:cs typeface="+mn-cs"/>
              </a:rPr>
              <a:t>(Aug 2010 – May 2014)</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Configured diagnostic faults, CAN channels, and error management instances.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Designed and executed unit tests, documented results, and integrated source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Worked with CCP/XCP protocols, OSEK RTOS, and had strong powertrain system understanding.</a:t>
            </a:r>
          </a:p>
          <a:p>
            <a:pPr marL="0" marR="0" lvl="2" indent="0" algn="l" defTabSz="844044" rtl="0" eaLnBrk="1" fontAlgn="base" latinLnBrk="0" hangingPunct="1">
              <a:lnSpc>
                <a:spcPct val="95000"/>
              </a:lnSpc>
              <a:spcBef>
                <a:spcPts val="100"/>
              </a:spcBef>
              <a:spcAft>
                <a:spcPts val="100"/>
              </a:spcAft>
              <a:buClr>
                <a:srgbClr val="272936"/>
              </a:buClr>
              <a:buSzPct val="100000"/>
              <a:buFontTx/>
              <a:buNone/>
              <a:tabLst/>
              <a:defRPr/>
            </a:pPr>
            <a:endParaRPr kumimoji="0" lang="en-IN" sz="900" b="0" i="0" u="none" strike="noStrike" kern="1200" cap="none" spc="0" normalizeH="0" baseline="0" noProof="0" dirty="0">
              <a:ln>
                <a:noFill/>
              </a:ln>
              <a:solidFill>
                <a:srgbClr val="000000"/>
              </a:solidFill>
              <a:effectLst/>
              <a:uLnTx/>
              <a:uFillTx/>
              <a:latin typeface="Ubuntu" panose="020B0504030602030204" pitchFamily="34" charset="0"/>
              <a:ea typeface="+mn-ea"/>
              <a:cs typeface="Calibri"/>
            </a:endParaRPr>
          </a:p>
        </p:txBody>
      </p:sp>
      <p:cxnSp>
        <p:nvCxnSpPr>
          <p:cNvPr id="8" name="Straight Connector 7">
            <a:extLst>
              <a:ext uri="{FF2B5EF4-FFF2-40B4-BE49-F238E27FC236}">
                <a16:creationId xmlns:a16="http://schemas.microsoft.com/office/drawing/2014/main" id="{02EEE27D-4343-4852-B168-3F3EEDD951E6}"/>
              </a:ext>
            </a:extLst>
          </p:cNvPr>
          <p:cNvCxnSpPr>
            <a:cxnSpLocks/>
          </p:cNvCxnSpPr>
          <p:nvPr/>
        </p:nvCxnSpPr>
        <p:spPr>
          <a:xfrm>
            <a:off x="4151202" y="3631058"/>
            <a:ext cx="2889301" cy="0"/>
          </a:xfrm>
          <a:prstGeom prst="line">
            <a:avLst/>
          </a:prstGeom>
          <a:ln w="12700" cap="rnd">
            <a:solidFill>
              <a:schemeClr val="tx1"/>
            </a:solidFill>
            <a:prstDash val="dash"/>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3A6EF77-F475-4D0E-B434-A672058DBAAE}"/>
              </a:ext>
            </a:extLst>
          </p:cNvPr>
          <p:cNvCxnSpPr>
            <a:cxnSpLocks/>
          </p:cNvCxnSpPr>
          <p:nvPr/>
        </p:nvCxnSpPr>
        <p:spPr>
          <a:xfrm>
            <a:off x="7239885" y="564517"/>
            <a:ext cx="0" cy="5906609"/>
          </a:xfrm>
          <a:prstGeom prst="line">
            <a:avLst/>
          </a:prstGeom>
          <a:ln w="12700" cap="rnd">
            <a:solidFill>
              <a:schemeClr val="tx1"/>
            </a:solidFill>
            <a:prstDash val="dash"/>
            <a:round/>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2E07231F-B1C2-B1BD-C982-2095E6C94BE0}"/>
              </a:ext>
            </a:extLst>
          </p:cNvPr>
          <p:cNvSpPr txBox="1"/>
          <p:nvPr/>
        </p:nvSpPr>
        <p:spPr>
          <a:xfrm>
            <a:off x="213029" y="1368000"/>
            <a:ext cx="3656811" cy="4802179"/>
          </a:xfrm>
          <a:prstGeom prst="rect">
            <a:avLst/>
          </a:prstGeom>
          <a:noFill/>
        </p:spPr>
        <p:txBody>
          <a:bodyPr wrap="square" lIns="0" tIns="0" rIns="0" bIns="0" numCol="1">
            <a:noAutofit/>
          </a:bodyPr>
          <a:lstStyle/>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pl-PL"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t>EXPECTED </a:t>
            </a:r>
            <a:r>
              <a:rPr kumimoji="0" lang="en-US"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t>ROLE: </a:t>
            </a:r>
            <a:br>
              <a:rPr kumimoji="0" lang="pl-PL"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br>
            <a:r>
              <a:rPr kumimoji="0" lang="en-US"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t>Senior Embedded Software Engineer</a:t>
            </a:r>
            <a:br>
              <a:rPr kumimoji="0" lang="en-US"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br>
            <a:endParaRPr kumimoji="0" lang="pl-PL"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endParaRPr>
          </a:p>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en-US"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KEY COMPETENCE</a:t>
            </a:r>
            <a:r>
              <a:rPr kumimoji="0" lang="pl-PL"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S</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Embedded C</a:t>
            </a:r>
          </a:p>
          <a:p>
            <a:pPr marL="0" marR="0" lvl="0" indent="0" algn="l" defTabSz="914358" rtl="0" eaLnBrk="1" fontAlgn="auto" latinLnBrk="0" hangingPunct="1">
              <a:lnSpc>
                <a:spcPct val="100000"/>
              </a:lnSpc>
              <a:spcBef>
                <a:spcPts val="100"/>
              </a:spcBef>
              <a:spcAft>
                <a:spcPts val="100"/>
              </a:spcAft>
              <a:buClrTx/>
              <a:buSzTx/>
              <a:buFontTx/>
              <a:buNone/>
              <a:tabLst/>
              <a:defRPr/>
            </a:pPr>
            <a:endParaRPr kumimoji="0" lang="pl-PL"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endParaRPr>
          </a:p>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en-IN"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SKILLS</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C</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Automotive industry</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AUTOSAR classic platform</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err="1">
                <a:solidFill>
                  <a:prstClr val="white"/>
                </a:solidFill>
                <a:latin typeface="Ubuntu" panose="020B0504030602030204" pitchFamily="34" charset="0"/>
                <a:ea typeface="Verdana" panose="020B0604030504040204" pitchFamily="34" charset="0"/>
              </a:rPr>
              <a:t>CANoe</a:t>
            </a:r>
            <a:endParaRPr lang="en-US" sz="1200" dirty="0">
              <a:solidFill>
                <a:prstClr val="white"/>
              </a:solidFill>
              <a:latin typeface="Ubuntu" panose="020B0504030602030204" pitchFamily="34" charset="0"/>
              <a:ea typeface="Verdana" panose="020B0604030504040204" pitchFamily="34" charset="0"/>
            </a:endParaRP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Git</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GitLab</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Microsoft Visual Studio Code</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Atlassian Jira</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INCA</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Lauterbach TRACE32</a:t>
            </a:r>
          </a:p>
          <a:p>
            <a:pPr marL="171442" indent="-171442" defTabSz="914358">
              <a:spcBef>
                <a:spcPts val="100"/>
              </a:spcBef>
              <a:spcAft>
                <a:spcPts val="100"/>
              </a:spcAft>
              <a:buFont typeface="Arial" panose="020B0604020202020204" pitchFamily="34" charset="0"/>
              <a:buChar char="•"/>
              <a:defRPr/>
            </a:pPr>
            <a:endParaRPr lang="en-US" sz="1200" dirty="0">
              <a:solidFill>
                <a:prstClr val="white"/>
              </a:solidFill>
              <a:latin typeface="Ubuntu" panose="020B0504030602030204" pitchFamily="34" charset="0"/>
              <a:ea typeface="Verdana" panose="020B0604030504040204" pitchFamily="34" charset="0"/>
            </a:endParaRPr>
          </a:p>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pl-PL"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LANGUAGES</a:t>
            </a:r>
            <a:endParaRPr kumimoji="0" lang="en-US"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endParaRPr>
          </a:p>
          <a:p>
            <a:pPr marL="171442" marR="0" lvl="0" indent="-171442" algn="l" defTabSz="914358" rtl="0" eaLnBrk="1" fontAlgn="auto" latinLnBrk="0" hangingPunct="1">
              <a:lnSpc>
                <a:spcPct val="100000"/>
              </a:lnSpc>
              <a:spcBef>
                <a:spcPts val="100"/>
              </a:spcBef>
              <a:spcAft>
                <a:spcPts val="1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Romanian</a:t>
            </a:r>
          </a:p>
          <a:p>
            <a:pPr marL="171442" marR="0" lvl="0" indent="-171442" algn="l" defTabSz="914358" rtl="0" eaLnBrk="1" fontAlgn="auto" latinLnBrk="0" hangingPunct="1">
              <a:lnSpc>
                <a:spcPct val="100000"/>
              </a:lnSpc>
              <a:spcBef>
                <a:spcPts val="100"/>
              </a:spcBef>
              <a:spcAft>
                <a:spcPts val="1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English </a:t>
            </a:r>
            <a:endParaRPr kumimoji="0" lang="pl-PL" sz="1200" b="0"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endParaRPr>
          </a:p>
        </p:txBody>
      </p:sp>
      <p:pic>
        <p:nvPicPr>
          <p:cNvPr id="7" name="Picture 6">
            <a:extLst>
              <a:ext uri="{FF2B5EF4-FFF2-40B4-BE49-F238E27FC236}">
                <a16:creationId xmlns:a16="http://schemas.microsoft.com/office/drawing/2014/main" id="{55039376-14FA-E801-F91A-D0ED69B3C7F1}"/>
              </a:ext>
            </a:extLst>
          </p:cNvPr>
          <p:cNvPicPr>
            <a:picLocks noChangeAspect="1"/>
          </p:cNvPicPr>
          <p:nvPr/>
        </p:nvPicPr>
        <p:blipFill>
          <a:blip r:embed="rId2"/>
          <a:stretch>
            <a:fillRect/>
          </a:stretch>
        </p:blipFill>
        <p:spPr>
          <a:xfrm>
            <a:off x="118991" y="6553738"/>
            <a:ext cx="3721429" cy="254204"/>
          </a:xfrm>
          <a:prstGeom prst="rect">
            <a:avLst/>
          </a:prstGeom>
        </p:spPr>
      </p:pic>
      <p:sp>
        <p:nvSpPr>
          <p:cNvPr id="4" name="TextBox 3">
            <a:extLst>
              <a:ext uri="{FF2B5EF4-FFF2-40B4-BE49-F238E27FC236}">
                <a16:creationId xmlns:a16="http://schemas.microsoft.com/office/drawing/2014/main" id="{8553B36F-5176-6965-A019-64AD98D70720}"/>
              </a:ext>
            </a:extLst>
          </p:cNvPr>
          <p:cNvSpPr txBox="1"/>
          <p:nvPr/>
        </p:nvSpPr>
        <p:spPr>
          <a:xfrm>
            <a:off x="4069228" y="564517"/>
            <a:ext cx="2971275" cy="276999"/>
          </a:xfrm>
          <a:prstGeom prst="rect">
            <a:avLst/>
          </a:prstGeom>
          <a:noFill/>
        </p:spPr>
        <p:txBody>
          <a:bodyPr wrap="square" rtlCol="0">
            <a:spAutoFit/>
          </a:bodyPr>
          <a:lstStyle/>
          <a:p>
            <a:pPr marL="0" lvl="2" algn="just" defTabSz="957712">
              <a:spcBef>
                <a:spcPts val="600"/>
              </a:spcBef>
              <a:buClr>
                <a:srgbClr val="0098C7"/>
              </a:buClr>
              <a:defRPr/>
            </a:pPr>
            <a:r>
              <a:rPr lang="fr-FR" sz="1200" b="1" noProof="1">
                <a:solidFill>
                  <a:srgbClr val="12ABDB"/>
                </a:solidFill>
                <a:latin typeface="Ubuntu" panose="020B0504030602030204" pitchFamily="34" charset="0"/>
                <a:ea typeface="Verdana"/>
                <a:cs typeface="Verdana" panose="020B0604030504040204" pitchFamily="34" charset="0"/>
              </a:rPr>
              <a:t>PROFESSIONAL BACKGROUND</a:t>
            </a:r>
            <a:endParaRPr lang="pl-PL" sz="1000" noProof="1">
              <a:solidFill>
                <a:prstClr val="black"/>
              </a:solidFill>
              <a:latin typeface="Ubuntu" panose="020B0504030602030204" pitchFamily="34" charset="0"/>
              <a:ea typeface="Verdana"/>
            </a:endParaRPr>
          </a:p>
        </p:txBody>
      </p:sp>
      <p:sp>
        <p:nvSpPr>
          <p:cNvPr id="3" name="TextBox 2">
            <a:extLst>
              <a:ext uri="{FF2B5EF4-FFF2-40B4-BE49-F238E27FC236}">
                <a16:creationId xmlns:a16="http://schemas.microsoft.com/office/drawing/2014/main" id="{F2ADEDC7-77AB-670B-6A67-E144E36DCE5F}"/>
              </a:ext>
            </a:extLst>
          </p:cNvPr>
          <p:cNvSpPr txBox="1"/>
          <p:nvPr/>
        </p:nvSpPr>
        <p:spPr>
          <a:xfrm>
            <a:off x="4049236" y="3769089"/>
            <a:ext cx="2440092" cy="276999"/>
          </a:xfrm>
          <a:prstGeom prst="rect">
            <a:avLst/>
          </a:prstGeom>
          <a:noFill/>
        </p:spPr>
        <p:txBody>
          <a:bodyPr wrap="none" rtlCol="0">
            <a:spAutoFit/>
          </a:bodyPr>
          <a:lstStyle/>
          <a:p>
            <a:r>
              <a:rPr lang="fr-FR" sz="1200" b="1" noProof="1">
                <a:solidFill>
                  <a:srgbClr val="12ABDB"/>
                </a:solidFill>
                <a:latin typeface="Ubuntu" panose="020B0504030602030204" pitchFamily="34" charset="0"/>
                <a:ea typeface="Verdana"/>
                <a:cs typeface="Verdana" panose="020B0604030504040204" pitchFamily="34" charset="0"/>
              </a:rPr>
              <a:t>EDUCATION &amp; CERTIFICATION</a:t>
            </a:r>
          </a:p>
        </p:txBody>
      </p:sp>
      <p:sp>
        <p:nvSpPr>
          <p:cNvPr id="5" name="TextBox 4">
            <a:extLst>
              <a:ext uri="{FF2B5EF4-FFF2-40B4-BE49-F238E27FC236}">
                <a16:creationId xmlns:a16="http://schemas.microsoft.com/office/drawing/2014/main" id="{EBEFB9B7-4489-021E-E541-C284F830EE7A}"/>
              </a:ext>
            </a:extLst>
          </p:cNvPr>
          <p:cNvSpPr txBox="1"/>
          <p:nvPr/>
        </p:nvSpPr>
        <p:spPr>
          <a:xfrm>
            <a:off x="7328920" y="564517"/>
            <a:ext cx="1606530" cy="276999"/>
          </a:xfrm>
          <a:prstGeom prst="rect">
            <a:avLst/>
          </a:prstGeom>
          <a:noFill/>
        </p:spPr>
        <p:txBody>
          <a:bodyPr wrap="none" rtlCol="0">
            <a:spAutoFit/>
          </a:bodyPr>
          <a:lstStyle/>
          <a:p>
            <a:r>
              <a:rPr lang="pl-PL" sz="1200" b="1" noProof="1">
                <a:solidFill>
                  <a:srgbClr val="12ABDB"/>
                </a:solidFill>
                <a:latin typeface="Ubuntu" panose="020B0504030602030204" pitchFamily="34" charset="0"/>
                <a:ea typeface="Verdana"/>
                <a:cs typeface="Verdana" panose="020B0604030504040204" pitchFamily="34" charset="0"/>
              </a:rPr>
              <a:t>MAIN REFERENCES</a:t>
            </a:r>
            <a:endParaRPr lang="fr-FR" sz="1200" b="1" noProof="1">
              <a:solidFill>
                <a:srgbClr val="12ABDB"/>
              </a:solidFill>
              <a:latin typeface="Ubuntu" panose="020B0504030602030204" pitchFamily="34" charset="0"/>
              <a:ea typeface="Verdana"/>
              <a:cs typeface="Verdana" panose="020B0604030504040204" pitchFamily="34" charset="0"/>
            </a:endParaRPr>
          </a:p>
        </p:txBody>
      </p:sp>
    </p:spTree>
    <p:extLst>
      <p:ext uri="{BB962C8B-B14F-4D97-AF65-F5344CB8AC3E}">
        <p14:creationId xmlns:p14="http://schemas.microsoft.com/office/powerpoint/2010/main" val="15802186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Cover options_Section">
  <a:themeElements>
    <a:clrScheme name="Capgemini NEW">
      <a:dk1>
        <a:sysClr val="windowText" lastClr="000000"/>
      </a:dk1>
      <a:lt1>
        <a:srgbClr val="FFFFFF"/>
      </a:lt1>
      <a:dk2>
        <a:srgbClr val="000000"/>
      </a:dk2>
      <a:lt2>
        <a:srgbClr val="ECECEC"/>
      </a:lt2>
      <a:accent1>
        <a:srgbClr val="0070AD"/>
      </a:accent1>
      <a:accent2>
        <a:srgbClr val="12ABDB"/>
      </a:accent2>
      <a:accent3>
        <a:srgbClr val="2B0A3D"/>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ésentation11" id="{18B0FA0E-52BA-4F3F-B2FD-88B4C8061DF8}" vid="{B5884A08-8118-4F4B-BE23-42A2365375DD}"/>
    </a:ext>
  </a:extLst>
</a:theme>
</file>

<file path=ppt/theme/theme2.xml><?xml version="1.0" encoding="utf-8"?>
<a:theme xmlns:a="http://schemas.openxmlformats.org/drawingml/2006/main" name="Tema do Office">
  <a:themeElements>
    <a:clrScheme name="Capgemini 2021">
      <a:dk1>
        <a:sysClr val="windowText" lastClr="000000"/>
      </a:dk1>
      <a:lt1>
        <a:srgbClr val="FFFFFF"/>
      </a:lt1>
      <a:dk2>
        <a:srgbClr val="000000"/>
      </a:dk2>
      <a:lt2>
        <a:srgbClr val="ECECEC"/>
      </a:lt2>
      <a:accent1>
        <a:srgbClr val="0070AD"/>
      </a:accent1>
      <a:accent2>
        <a:srgbClr val="12ABDB"/>
      </a:accent2>
      <a:accent3>
        <a:srgbClr val="2B0A3D"/>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Capgemini 2021">
      <a:dk1>
        <a:sysClr val="windowText" lastClr="000000"/>
      </a:dk1>
      <a:lt1>
        <a:srgbClr val="FFFFFF"/>
      </a:lt1>
      <a:dk2>
        <a:srgbClr val="000000"/>
      </a:dk2>
      <a:lt2>
        <a:srgbClr val="ECECEC"/>
      </a:lt2>
      <a:accent1>
        <a:srgbClr val="0070AD"/>
      </a:accent1>
      <a:accent2>
        <a:srgbClr val="12ABDB"/>
      </a:accent2>
      <a:accent3>
        <a:srgbClr val="2B0A3D"/>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8379B9164345D4B9FEA71B5C6DA0501" ma:contentTypeVersion="12" ma:contentTypeDescription="Create a new document." ma:contentTypeScope="" ma:versionID="25a509c6a27b952c0dae28f88f47ece3">
  <xsd:schema xmlns:xsd="http://www.w3.org/2001/XMLSchema" xmlns:xs="http://www.w3.org/2001/XMLSchema" xmlns:p="http://schemas.microsoft.com/office/2006/metadata/properties" xmlns:ns2="cddac4ca-1f9a-48ec-a052-f880be6be43c" xmlns:ns3="70ba0579-5a3d-4697-904b-f432645238e6" targetNamespace="http://schemas.microsoft.com/office/2006/metadata/properties" ma:root="true" ma:fieldsID="3585157dcfd28b9b0093472ca559abd9" ns2:_="" ns3:_="">
    <xsd:import namespace="cddac4ca-1f9a-48ec-a052-f880be6be43c"/>
    <xsd:import namespace="70ba0579-5a3d-4697-904b-f432645238e6"/>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ddac4ca-1f9a-48ec-a052-f880be6be43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Length (seconds)" ma:internalName="MediaLengthInSeconds" ma:readOnly="true">
      <xsd:simpleType>
        <xsd:restriction base="dms:Unknow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0ba0579-5a3d-4697-904b-f432645238e6"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765F6DA-EDFD-4C3F-B2EB-EDE359E124E2}">
  <ds:schemaRefs>
    <ds:schemaRef ds:uri="http://schemas.microsoft.com/office/2006/documentManagement/types"/>
    <ds:schemaRef ds:uri="http://purl.org/dc/elements/1.1/"/>
    <ds:schemaRef ds:uri="http://schemas.openxmlformats.org/package/2006/metadata/core-properties"/>
    <ds:schemaRef ds:uri="http://www.w3.org/XML/1998/namespace"/>
    <ds:schemaRef ds:uri="cddac4ca-1f9a-48ec-a052-f880be6be43c"/>
    <ds:schemaRef ds:uri="http://purl.org/dc/terms/"/>
    <ds:schemaRef ds:uri="70ba0579-5a3d-4697-904b-f432645238e6"/>
    <ds:schemaRef ds:uri="http://schemas.microsoft.com/office/2006/metadata/properties"/>
    <ds:schemaRef ds:uri="http://schemas.microsoft.com/office/infopath/2007/PartnerControls"/>
    <ds:schemaRef ds:uri="http://purl.org/dc/dcmitype/"/>
  </ds:schemaRefs>
</ds:datastoreItem>
</file>

<file path=customXml/itemProps2.xml><?xml version="1.0" encoding="utf-8"?>
<ds:datastoreItem xmlns:ds="http://schemas.openxmlformats.org/officeDocument/2006/customXml" ds:itemID="{93B09ECE-D1C0-42A5-B69E-8C88764DB9F3}">
  <ds:schemaRefs>
    <ds:schemaRef ds:uri="http://schemas.microsoft.com/sharepoint/v3/contenttype/forms"/>
  </ds:schemaRefs>
</ds:datastoreItem>
</file>

<file path=customXml/itemProps3.xml><?xml version="1.0" encoding="utf-8"?>
<ds:datastoreItem xmlns:ds="http://schemas.openxmlformats.org/officeDocument/2006/customXml" ds:itemID="{DB6846BF-D536-4981-BB4E-DAFD3540F1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ddac4ca-1f9a-48ec-a052-f880be6be43c"/>
    <ds:schemaRef ds:uri="70ba0579-5a3d-4697-904b-f432645238e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6a2ae5a-9f00-4f6b-95ed-5d33d77c4d61}" enabled="0" method="" siteId="{76a2ae5a-9f00-4f6b-95ed-5d33d77c4d61}" removed="1"/>
</clbl:labelList>
</file>

<file path=docProps/app.xml><?xml version="1.0" encoding="utf-8"?>
<Properties xmlns="http://schemas.openxmlformats.org/officeDocument/2006/extended-properties" xmlns:vt="http://schemas.openxmlformats.org/officeDocument/2006/docPropsVTypes">
  <Template>ppt-Capgemini_MasterTemplate</Template>
  <TotalTime>5517</TotalTime>
  <Words>486</Words>
  <Application>Microsoft Office PowerPoint</Application>
  <PresentationFormat>Widescreen</PresentationFormat>
  <Paragraphs>53</Paragraphs>
  <Slides>1</Slides>
  <Notes>0</Notes>
  <HiddenSlides>0</HiddenSlides>
  <MMClips>0</MMClip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Cover options_Section</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VOINA, Cristian</dc:creator>
  <cp:lastModifiedBy>VOINA, Cristian</cp:lastModifiedBy>
  <cp:revision>155</cp:revision>
  <dcterms:created xsi:type="dcterms:W3CDTF">2021-06-17T16:25:34Z</dcterms:created>
  <dcterms:modified xsi:type="dcterms:W3CDTF">2025-09-08T12:44:28Z</dcterms:modified>
  <cp:category>Company Confidential</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0x01010028379B9164345D4B9FEA71B5C6DA0501</vt:lpwstr>
  </property>
</Properties>
</file>