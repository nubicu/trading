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notesMasterIdLst>
    <p:notesMasterId r:id="rId23"/>
  </p:notesMasterIdLst>
  <p:sldIdLst>
    <p:sldId id="256" r:id="rId2"/>
    <p:sldId id="392" r:id="rId3"/>
    <p:sldId id="393" r:id="rId4"/>
    <p:sldId id="394" r:id="rId5"/>
    <p:sldId id="395" r:id="rId6"/>
    <p:sldId id="396" r:id="rId7"/>
    <p:sldId id="257" r:id="rId8"/>
    <p:sldId id="389" r:id="rId9"/>
    <p:sldId id="259" r:id="rId10"/>
    <p:sldId id="260" r:id="rId11"/>
    <p:sldId id="261" r:id="rId12"/>
    <p:sldId id="388" r:id="rId13"/>
    <p:sldId id="263" r:id="rId14"/>
    <p:sldId id="264" r:id="rId15"/>
    <p:sldId id="390" r:id="rId16"/>
    <p:sldId id="391" r:id="rId17"/>
    <p:sldId id="398" r:id="rId18"/>
    <p:sldId id="400" r:id="rId19"/>
    <p:sldId id="399" r:id="rId20"/>
    <p:sldId id="401" r:id="rId21"/>
    <p:sldId id="397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24"/>
    <p:restoredTop sz="79726"/>
  </p:normalViewPr>
  <p:slideViewPr>
    <p:cSldViewPr snapToGrid="0" snapToObjects="1">
      <p:cViewPr varScale="1">
        <p:scale>
          <a:sx n="100" d="100"/>
          <a:sy n="100" d="100"/>
        </p:scale>
        <p:origin x="261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b="1" dirty="0"/>
              <a:t>YOUR CI/CD</a:t>
            </a:r>
            <a:r>
              <a:rPr lang="en-GB" b="1" baseline="0" dirty="0"/>
              <a:t> PROGRESS</a:t>
            </a:r>
            <a:endParaRPr lang="en-GB" b="1" dirty="0"/>
          </a:p>
        </c:rich>
      </c:tx>
      <c:layout>
        <c:manualLayout>
          <c:xMode val="edge"/>
          <c:yMode val="edge"/>
          <c:x val="0.18470646996193144"/>
          <c:y val="4.466097397496031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lotArea>
      <c:layout>
        <c:manualLayout>
          <c:layoutTarget val="inner"/>
          <c:xMode val="edge"/>
          <c:yMode val="edge"/>
          <c:x val="5.7646544181977254E-2"/>
          <c:y val="0.25198682723986499"/>
          <c:w val="0.51929528545773884"/>
          <c:h val="0.5869896135688713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UNAWARE OF CI/CD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6B-1C4B-A55F-85D38D81088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AWARE OF CI/CD</c:v>
                </c:pt>
              </c:strCache>
            </c:strRef>
          </c:tx>
          <c:spPr>
            <a:pattFill prst="pct90">
              <a:fgClr>
                <a:schemeClr val="accent2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Sheet1!$C$2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26B-1C4B-A55F-85D38D81088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KNOW CI/CD CONCEPTS</c:v>
                </c:pt>
              </c:strCache>
            </c:strRef>
          </c:tx>
          <c:spPr>
            <a:pattFill prst="pct90">
              <a:fgClr>
                <a:schemeClr val="accent2">
                  <a:lumMod val="75000"/>
                </a:schemeClr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Sheet1!$D$2</c:f>
              <c:numCache>
                <c:formatCode>General</c:formatCode>
                <c:ptCount val="1"/>
                <c:pt idx="0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26B-1C4B-A55F-85D38D81088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?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Sheet1!$E$2</c:f>
              <c:numCache>
                <c:formatCode>General</c:formatCode>
                <c:ptCount val="1"/>
                <c:pt idx="0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26B-1C4B-A55F-85D38D8108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76910144"/>
        <c:axId val="1476911856"/>
      </c:barChart>
      <c:catAx>
        <c:axId val="1476910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RO"/>
          </a:p>
        </c:txPr>
        <c:crossAx val="1476911856"/>
        <c:crosses val="autoZero"/>
        <c:auto val="1"/>
        <c:lblAlgn val="ctr"/>
        <c:lblOffset val="100"/>
        <c:noMultiLvlLbl val="0"/>
      </c:catAx>
      <c:valAx>
        <c:axId val="1476911856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RO"/>
          </a:p>
        </c:txPr>
        <c:crossAx val="14769101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RO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1D7CAB-1F31-4B5A-954E-100527A9BB3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0_3" csCatId="mainScheme" phldr="1"/>
      <dgm:spPr/>
      <dgm:t>
        <a:bodyPr/>
        <a:lstStyle/>
        <a:p>
          <a:endParaRPr lang="en-US"/>
        </a:p>
      </dgm:t>
    </dgm:pt>
    <dgm:pt modelId="{F778194B-E7B8-4592-AD8C-017E81BE19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Continuous Delivery: software is always ready to be released</a:t>
          </a:r>
        </a:p>
      </dgm:t>
    </dgm:pt>
    <dgm:pt modelId="{E2E5A4CE-9D79-4162-8F4D-5E683AC57864}" type="parTrans" cxnId="{7046B031-662D-4CF5-A10C-221B0A39BBBA}">
      <dgm:prSet/>
      <dgm:spPr/>
      <dgm:t>
        <a:bodyPr/>
        <a:lstStyle/>
        <a:p>
          <a:endParaRPr lang="en-US"/>
        </a:p>
      </dgm:t>
    </dgm:pt>
    <dgm:pt modelId="{DC7E86B1-B3D4-45A2-BB88-1BD2190C342E}" type="sibTrans" cxnId="{7046B031-662D-4CF5-A10C-221B0A39BBBA}">
      <dgm:prSet/>
      <dgm:spPr/>
      <dgm:t>
        <a:bodyPr/>
        <a:lstStyle/>
        <a:p>
          <a:endParaRPr lang="en-US"/>
        </a:p>
      </dgm:t>
    </dgm:pt>
    <dgm:pt modelId="{0874AFB8-CD76-409D-9A26-D239D4AE6C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Deployment to production requires manual approval</a:t>
          </a:r>
        </a:p>
      </dgm:t>
    </dgm:pt>
    <dgm:pt modelId="{8B5B4BEA-686C-4549-A2B2-D7CBF7333F04}" type="parTrans" cxnId="{19DE961C-E9F8-413B-B01F-42838D7836AC}">
      <dgm:prSet/>
      <dgm:spPr/>
      <dgm:t>
        <a:bodyPr/>
        <a:lstStyle/>
        <a:p>
          <a:endParaRPr lang="en-US"/>
        </a:p>
      </dgm:t>
    </dgm:pt>
    <dgm:pt modelId="{CD49AAB1-5C4A-4068-BA4D-BA033F9DB626}" type="sibTrans" cxnId="{19DE961C-E9F8-413B-B01F-42838D7836AC}">
      <dgm:prSet/>
      <dgm:spPr/>
      <dgm:t>
        <a:bodyPr/>
        <a:lstStyle/>
        <a:p>
          <a:endParaRPr lang="en-US"/>
        </a:p>
      </dgm:t>
    </dgm:pt>
    <dgm:pt modelId="{D011A6DF-CF3F-465E-BE2A-F95151D811F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Continuous Deployment: every successful change is automatically released</a:t>
          </a:r>
        </a:p>
      </dgm:t>
    </dgm:pt>
    <dgm:pt modelId="{E2D43BCE-33AA-48B0-A0B0-92FEF2C117B9}" type="parTrans" cxnId="{F1229326-27F5-44C0-A81B-623EA9A926E9}">
      <dgm:prSet/>
      <dgm:spPr/>
      <dgm:t>
        <a:bodyPr/>
        <a:lstStyle/>
        <a:p>
          <a:endParaRPr lang="en-US"/>
        </a:p>
      </dgm:t>
    </dgm:pt>
    <dgm:pt modelId="{E46BDA0D-0662-4DA2-98BE-EB3D73BC015A}" type="sibTrans" cxnId="{F1229326-27F5-44C0-A81B-623EA9A926E9}">
      <dgm:prSet/>
      <dgm:spPr/>
      <dgm:t>
        <a:bodyPr/>
        <a:lstStyle/>
        <a:p>
          <a:endParaRPr lang="en-US"/>
        </a:p>
      </dgm:t>
    </dgm:pt>
    <dgm:pt modelId="{1E935E1D-CF97-4890-A900-99C1E40338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Choice depends on risk tolerance and business needs</a:t>
          </a:r>
        </a:p>
      </dgm:t>
    </dgm:pt>
    <dgm:pt modelId="{9B6473A7-9BB2-433E-B4A9-43DE819F5217}" type="parTrans" cxnId="{7D70CEA4-A09C-4A92-A63A-656B2D13DEE2}">
      <dgm:prSet/>
      <dgm:spPr/>
      <dgm:t>
        <a:bodyPr/>
        <a:lstStyle/>
        <a:p>
          <a:endParaRPr lang="en-US"/>
        </a:p>
      </dgm:t>
    </dgm:pt>
    <dgm:pt modelId="{E8F9483C-3389-4091-A9AD-7ADFA7F0B846}" type="sibTrans" cxnId="{7D70CEA4-A09C-4A92-A63A-656B2D13DEE2}">
      <dgm:prSet/>
      <dgm:spPr/>
      <dgm:t>
        <a:bodyPr/>
        <a:lstStyle/>
        <a:p>
          <a:endParaRPr lang="en-US"/>
        </a:p>
      </dgm:t>
    </dgm:pt>
    <dgm:pt modelId="{FCED24CA-7AB5-4FCF-A989-A0729A1B9F55}" type="pres">
      <dgm:prSet presAssocID="{DC1D7CAB-1F31-4B5A-954E-100527A9BB30}" presName="root" presStyleCnt="0">
        <dgm:presLayoutVars>
          <dgm:dir/>
          <dgm:resizeHandles val="exact"/>
        </dgm:presLayoutVars>
      </dgm:prSet>
      <dgm:spPr/>
    </dgm:pt>
    <dgm:pt modelId="{36C74EEF-9B40-465E-9066-648E183FE945}" type="pres">
      <dgm:prSet presAssocID="{F778194B-E7B8-4592-AD8C-017E81BE1949}" presName="compNode" presStyleCnt="0"/>
      <dgm:spPr/>
    </dgm:pt>
    <dgm:pt modelId="{8F798C1B-02BD-4CB3-9DDB-0FD71C15B353}" type="pres">
      <dgm:prSet presAssocID="{F778194B-E7B8-4592-AD8C-017E81BE1949}" presName="bgRect" presStyleLbl="bgShp" presStyleIdx="0" presStyleCnt="2"/>
      <dgm:spPr/>
    </dgm:pt>
    <dgm:pt modelId="{3C660225-07AD-422A-BE7B-91DD47F4D4A6}" type="pres">
      <dgm:prSet presAssocID="{F778194B-E7B8-4592-AD8C-017E81BE194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6ECEFF17-6AF0-412C-95ED-13CE5111BF55}" type="pres">
      <dgm:prSet presAssocID="{F778194B-E7B8-4592-AD8C-017E81BE1949}" presName="spaceRect" presStyleCnt="0"/>
      <dgm:spPr/>
    </dgm:pt>
    <dgm:pt modelId="{BE2ACD08-56F7-483B-86D0-70681F077AED}" type="pres">
      <dgm:prSet presAssocID="{F778194B-E7B8-4592-AD8C-017E81BE1949}" presName="parTx" presStyleLbl="revTx" presStyleIdx="0" presStyleCnt="4">
        <dgm:presLayoutVars>
          <dgm:chMax val="0"/>
          <dgm:chPref val="0"/>
        </dgm:presLayoutVars>
      </dgm:prSet>
      <dgm:spPr/>
    </dgm:pt>
    <dgm:pt modelId="{6E4F4F13-D983-44CC-8479-A589345DFD86}" type="pres">
      <dgm:prSet presAssocID="{F778194B-E7B8-4592-AD8C-017E81BE1949}" presName="desTx" presStyleLbl="revTx" presStyleIdx="1" presStyleCnt="4">
        <dgm:presLayoutVars/>
      </dgm:prSet>
      <dgm:spPr/>
    </dgm:pt>
    <dgm:pt modelId="{662A0D1E-0747-4CAC-899B-BF560BF1B477}" type="pres">
      <dgm:prSet presAssocID="{DC7E86B1-B3D4-45A2-BB88-1BD2190C342E}" presName="sibTrans" presStyleCnt="0"/>
      <dgm:spPr/>
    </dgm:pt>
    <dgm:pt modelId="{9AD86A20-E636-4812-AD0E-AD0DBBC62673}" type="pres">
      <dgm:prSet presAssocID="{D011A6DF-CF3F-465E-BE2A-F95151D811F7}" presName="compNode" presStyleCnt="0"/>
      <dgm:spPr/>
    </dgm:pt>
    <dgm:pt modelId="{82411EE2-2002-4D09-8E40-9032F73E0FAB}" type="pres">
      <dgm:prSet presAssocID="{D011A6DF-CF3F-465E-BE2A-F95151D811F7}" presName="bgRect" presStyleLbl="bgShp" presStyleIdx="1" presStyleCnt="2"/>
      <dgm:spPr/>
    </dgm:pt>
    <dgm:pt modelId="{1153F9F3-364B-4ECB-AB9D-50B3FB82F3E3}" type="pres">
      <dgm:prSet presAssocID="{D011A6DF-CF3F-465E-BE2A-F95151D811F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278CF494-26D0-4A4C-9AF4-BA9573274B47}" type="pres">
      <dgm:prSet presAssocID="{D011A6DF-CF3F-465E-BE2A-F95151D811F7}" presName="spaceRect" presStyleCnt="0"/>
      <dgm:spPr/>
    </dgm:pt>
    <dgm:pt modelId="{04876ED1-0121-4A59-9807-8A291B8E7E21}" type="pres">
      <dgm:prSet presAssocID="{D011A6DF-CF3F-465E-BE2A-F95151D811F7}" presName="parTx" presStyleLbl="revTx" presStyleIdx="2" presStyleCnt="4">
        <dgm:presLayoutVars>
          <dgm:chMax val="0"/>
          <dgm:chPref val="0"/>
        </dgm:presLayoutVars>
      </dgm:prSet>
      <dgm:spPr/>
    </dgm:pt>
    <dgm:pt modelId="{012ECDCD-87DD-4B3E-AC20-F4CF611A7F10}" type="pres">
      <dgm:prSet presAssocID="{D011A6DF-CF3F-465E-BE2A-F95151D811F7}" presName="desTx" presStyleLbl="revTx" presStyleIdx="3" presStyleCnt="4">
        <dgm:presLayoutVars/>
      </dgm:prSet>
      <dgm:spPr/>
    </dgm:pt>
  </dgm:ptLst>
  <dgm:cxnLst>
    <dgm:cxn modelId="{19DE961C-E9F8-413B-B01F-42838D7836AC}" srcId="{F778194B-E7B8-4592-AD8C-017E81BE1949}" destId="{0874AFB8-CD76-409D-9A26-D239D4AE6C0F}" srcOrd="0" destOrd="0" parTransId="{8B5B4BEA-686C-4549-A2B2-D7CBF7333F04}" sibTransId="{CD49AAB1-5C4A-4068-BA4D-BA033F9DB626}"/>
    <dgm:cxn modelId="{F1229326-27F5-44C0-A81B-623EA9A926E9}" srcId="{DC1D7CAB-1F31-4B5A-954E-100527A9BB30}" destId="{D011A6DF-CF3F-465E-BE2A-F95151D811F7}" srcOrd="1" destOrd="0" parTransId="{E2D43BCE-33AA-48B0-A0B0-92FEF2C117B9}" sibTransId="{E46BDA0D-0662-4DA2-98BE-EB3D73BC015A}"/>
    <dgm:cxn modelId="{7046B031-662D-4CF5-A10C-221B0A39BBBA}" srcId="{DC1D7CAB-1F31-4B5A-954E-100527A9BB30}" destId="{F778194B-E7B8-4592-AD8C-017E81BE1949}" srcOrd="0" destOrd="0" parTransId="{E2E5A4CE-9D79-4162-8F4D-5E683AC57864}" sibTransId="{DC7E86B1-B3D4-45A2-BB88-1BD2190C342E}"/>
    <dgm:cxn modelId="{16B77233-F471-7C4C-B7C4-D628E970D41A}" type="presOf" srcId="{0874AFB8-CD76-409D-9A26-D239D4AE6C0F}" destId="{6E4F4F13-D983-44CC-8479-A589345DFD86}" srcOrd="0" destOrd="0" presId="urn:microsoft.com/office/officeart/2018/2/layout/IconVerticalSolidList"/>
    <dgm:cxn modelId="{7D70CEA4-A09C-4A92-A63A-656B2D13DEE2}" srcId="{D011A6DF-CF3F-465E-BE2A-F95151D811F7}" destId="{1E935E1D-CF97-4890-A900-99C1E4033844}" srcOrd="0" destOrd="0" parTransId="{9B6473A7-9BB2-433E-B4A9-43DE819F5217}" sibTransId="{E8F9483C-3389-4091-A9AD-7ADFA7F0B846}"/>
    <dgm:cxn modelId="{CEE9C9A9-4D1A-0D42-BB57-2D5A7E2023B8}" type="presOf" srcId="{D011A6DF-CF3F-465E-BE2A-F95151D811F7}" destId="{04876ED1-0121-4A59-9807-8A291B8E7E21}" srcOrd="0" destOrd="0" presId="urn:microsoft.com/office/officeart/2018/2/layout/IconVerticalSolidList"/>
    <dgm:cxn modelId="{3C5310E2-EC04-4141-A1D0-47D4E4D5EEFB}" type="presOf" srcId="{DC1D7CAB-1F31-4B5A-954E-100527A9BB30}" destId="{FCED24CA-7AB5-4FCF-A989-A0729A1B9F55}" srcOrd="0" destOrd="0" presId="urn:microsoft.com/office/officeart/2018/2/layout/IconVerticalSolidList"/>
    <dgm:cxn modelId="{490AE2EE-62E7-E441-86C2-70416454A2A1}" type="presOf" srcId="{1E935E1D-CF97-4890-A900-99C1E4033844}" destId="{012ECDCD-87DD-4B3E-AC20-F4CF611A7F10}" srcOrd="0" destOrd="0" presId="urn:microsoft.com/office/officeart/2018/2/layout/IconVerticalSolidList"/>
    <dgm:cxn modelId="{7EB94AFA-9DBA-A245-9E62-B9DC596E8522}" type="presOf" srcId="{F778194B-E7B8-4592-AD8C-017E81BE1949}" destId="{BE2ACD08-56F7-483B-86D0-70681F077AED}" srcOrd="0" destOrd="0" presId="urn:microsoft.com/office/officeart/2018/2/layout/IconVerticalSolidList"/>
    <dgm:cxn modelId="{DA5F3FA6-5E7D-824F-8844-E82090302080}" type="presParOf" srcId="{FCED24CA-7AB5-4FCF-A989-A0729A1B9F55}" destId="{36C74EEF-9B40-465E-9066-648E183FE945}" srcOrd="0" destOrd="0" presId="urn:microsoft.com/office/officeart/2018/2/layout/IconVerticalSolidList"/>
    <dgm:cxn modelId="{B1C0C791-20D9-EB42-8D43-30D52AD84371}" type="presParOf" srcId="{36C74EEF-9B40-465E-9066-648E183FE945}" destId="{8F798C1B-02BD-4CB3-9DDB-0FD71C15B353}" srcOrd="0" destOrd="0" presId="urn:microsoft.com/office/officeart/2018/2/layout/IconVerticalSolidList"/>
    <dgm:cxn modelId="{3DAF2BC6-F77C-F444-9944-875463EB3F42}" type="presParOf" srcId="{36C74EEF-9B40-465E-9066-648E183FE945}" destId="{3C660225-07AD-422A-BE7B-91DD47F4D4A6}" srcOrd="1" destOrd="0" presId="urn:microsoft.com/office/officeart/2018/2/layout/IconVerticalSolidList"/>
    <dgm:cxn modelId="{0740DC21-6BE7-4440-B7C8-3AF7F352645C}" type="presParOf" srcId="{36C74EEF-9B40-465E-9066-648E183FE945}" destId="{6ECEFF17-6AF0-412C-95ED-13CE5111BF55}" srcOrd="2" destOrd="0" presId="urn:microsoft.com/office/officeart/2018/2/layout/IconVerticalSolidList"/>
    <dgm:cxn modelId="{B477FE63-C6E5-5F40-8C8F-2DD0C71C7524}" type="presParOf" srcId="{36C74EEF-9B40-465E-9066-648E183FE945}" destId="{BE2ACD08-56F7-483B-86D0-70681F077AED}" srcOrd="3" destOrd="0" presId="urn:microsoft.com/office/officeart/2018/2/layout/IconVerticalSolidList"/>
    <dgm:cxn modelId="{6BB0B4AE-A04A-0A41-97CA-5E7175A1252E}" type="presParOf" srcId="{36C74EEF-9B40-465E-9066-648E183FE945}" destId="{6E4F4F13-D983-44CC-8479-A589345DFD86}" srcOrd="4" destOrd="0" presId="urn:microsoft.com/office/officeart/2018/2/layout/IconVerticalSolidList"/>
    <dgm:cxn modelId="{062D2035-5237-0341-987C-C92C801DD83C}" type="presParOf" srcId="{FCED24CA-7AB5-4FCF-A989-A0729A1B9F55}" destId="{662A0D1E-0747-4CAC-899B-BF560BF1B477}" srcOrd="1" destOrd="0" presId="urn:microsoft.com/office/officeart/2018/2/layout/IconVerticalSolidList"/>
    <dgm:cxn modelId="{AE800CD3-AB88-EB41-8BB5-8EA6325B53D3}" type="presParOf" srcId="{FCED24CA-7AB5-4FCF-A989-A0729A1B9F55}" destId="{9AD86A20-E636-4812-AD0E-AD0DBBC62673}" srcOrd="2" destOrd="0" presId="urn:microsoft.com/office/officeart/2018/2/layout/IconVerticalSolidList"/>
    <dgm:cxn modelId="{52244C1C-81EC-104F-B6FC-D55B3536781D}" type="presParOf" srcId="{9AD86A20-E636-4812-AD0E-AD0DBBC62673}" destId="{82411EE2-2002-4D09-8E40-9032F73E0FAB}" srcOrd="0" destOrd="0" presId="urn:microsoft.com/office/officeart/2018/2/layout/IconVerticalSolidList"/>
    <dgm:cxn modelId="{5466A1ED-0705-D146-BC87-8AE86420AD83}" type="presParOf" srcId="{9AD86A20-E636-4812-AD0E-AD0DBBC62673}" destId="{1153F9F3-364B-4ECB-AB9D-50B3FB82F3E3}" srcOrd="1" destOrd="0" presId="urn:microsoft.com/office/officeart/2018/2/layout/IconVerticalSolidList"/>
    <dgm:cxn modelId="{4E409FD6-B096-6543-80D3-E963F0110D0B}" type="presParOf" srcId="{9AD86A20-E636-4812-AD0E-AD0DBBC62673}" destId="{278CF494-26D0-4A4C-9AF4-BA9573274B47}" srcOrd="2" destOrd="0" presId="urn:microsoft.com/office/officeart/2018/2/layout/IconVerticalSolidList"/>
    <dgm:cxn modelId="{A035D50C-EA9B-7D45-A335-E17C7E9606DE}" type="presParOf" srcId="{9AD86A20-E636-4812-AD0E-AD0DBBC62673}" destId="{04876ED1-0121-4A59-9807-8A291B8E7E21}" srcOrd="3" destOrd="0" presId="urn:microsoft.com/office/officeart/2018/2/layout/IconVerticalSolidList"/>
    <dgm:cxn modelId="{84254825-F6E7-FA4E-957E-8A19550499CD}" type="presParOf" srcId="{9AD86A20-E636-4812-AD0E-AD0DBBC62673}" destId="{012ECDCD-87DD-4B3E-AC20-F4CF611A7F10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798C1B-02BD-4CB3-9DDB-0FD71C15B353}">
      <dsp:nvSpPr>
        <dsp:cNvPr id="0" name=""/>
        <dsp:cNvSpPr/>
      </dsp:nvSpPr>
      <dsp:spPr>
        <a:xfrm>
          <a:off x="0" y="707092"/>
          <a:ext cx="7886700" cy="130540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660225-07AD-422A-BE7B-91DD47F4D4A6}">
      <dsp:nvSpPr>
        <dsp:cNvPr id="0" name=""/>
        <dsp:cNvSpPr/>
      </dsp:nvSpPr>
      <dsp:spPr>
        <a:xfrm>
          <a:off x="394883" y="1000807"/>
          <a:ext cx="717970" cy="7179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2ACD08-56F7-483B-86D0-70681F077AED}">
      <dsp:nvSpPr>
        <dsp:cNvPr id="0" name=""/>
        <dsp:cNvSpPr/>
      </dsp:nvSpPr>
      <dsp:spPr>
        <a:xfrm>
          <a:off x="1507738" y="707092"/>
          <a:ext cx="3549015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Continuous Delivery: software is always ready to be released</a:t>
          </a:r>
        </a:p>
      </dsp:txBody>
      <dsp:txXfrm>
        <a:off x="1507738" y="707092"/>
        <a:ext cx="3549015" cy="1305401"/>
      </dsp:txXfrm>
    </dsp:sp>
    <dsp:sp modelId="{6E4F4F13-D983-44CC-8479-A589345DFD86}">
      <dsp:nvSpPr>
        <dsp:cNvPr id="0" name=""/>
        <dsp:cNvSpPr/>
      </dsp:nvSpPr>
      <dsp:spPr>
        <a:xfrm>
          <a:off x="5056753" y="707092"/>
          <a:ext cx="2829946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Deployment to production requires manual approval</a:t>
          </a:r>
        </a:p>
      </dsp:txBody>
      <dsp:txXfrm>
        <a:off x="5056753" y="707092"/>
        <a:ext cx="2829946" cy="1305401"/>
      </dsp:txXfrm>
    </dsp:sp>
    <dsp:sp modelId="{82411EE2-2002-4D09-8E40-9032F73E0FAB}">
      <dsp:nvSpPr>
        <dsp:cNvPr id="0" name=""/>
        <dsp:cNvSpPr/>
      </dsp:nvSpPr>
      <dsp:spPr>
        <a:xfrm>
          <a:off x="0" y="2338844"/>
          <a:ext cx="7886700" cy="130540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53F9F3-364B-4ECB-AB9D-50B3FB82F3E3}">
      <dsp:nvSpPr>
        <dsp:cNvPr id="0" name=""/>
        <dsp:cNvSpPr/>
      </dsp:nvSpPr>
      <dsp:spPr>
        <a:xfrm>
          <a:off x="394883" y="2632559"/>
          <a:ext cx="717970" cy="7179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876ED1-0121-4A59-9807-8A291B8E7E21}">
      <dsp:nvSpPr>
        <dsp:cNvPr id="0" name=""/>
        <dsp:cNvSpPr/>
      </dsp:nvSpPr>
      <dsp:spPr>
        <a:xfrm>
          <a:off x="1507738" y="2338844"/>
          <a:ext cx="3549015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Continuous Deployment: every successful change is automatically released</a:t>
          </a:r>
        </a:p>
      </dsp:txBody>
      <dsp:txXfrm>
        <a:off x="1507738" y="2338844"/>
        <a:ext cx="3549015" cy="1305401"/>
      </dsp:txXfrm>
    </dsp:sp>
    <dsp:sp modelId="{012ECDCD-87DD-4B3E-AC20-F4CF611A7F10}">
      <dsp:nvSpPr>
        <dsp:cNvPr id="0" name=""/>
        <dsp:cNvSpPr/>
      </dsp:nvSpPr>
      <dsp:spPr>
        <a:xfrm>
          <a:off x="5056753" y="2338844"/>
          <a:ext cx="2829946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Choice depends on risk tolerance and business needs</a:t>
          </a:r>
        </a:p>
      </dsp:txBody>
      <dsp:txXfrm>
        <a:off x="5056753" y="2338844"/>
        <a:ext cx="2829946" cy="13054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image" Target="../media/image23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0.30559</cdr:x>
      <cdr:y>0.26716</cdr:y>
    </cdr:from>
    <cdr:to>
      <cdr:x>0.41759</cdr:x>
      <cdr:y>0.33253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B194C8D0-4A42-B30F-A2BF-F5B1C59DFC64}"/>
            </a:ext>
          </a:extLst>
        </cdr:cNvPr>
        <cdr:cNvSpPr txBox="1"/>
      </cdr:nvSpPr>
      <cdr:spPr>
        <a:xfrm xmlns:a="http://schemas.openxmlformats.org/drawingml/2006/main">
          <a:off x="2601468" y="1139544"/>
          <a:ext cx="953516" cy="27884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RO" sz="1100" b="1" kern="1200" dirty="0"/>
            <a:t>YOU ARE HERE</a:t>
          </a:r>
        </a:p>
      </cdr:txBody>
    </cdr:sp>
  </cdr:relSizeAnchor>
  <cdr:relSizeAnchor xmlns:cdr="http://schemas.openxmlformats.org/drawingml/2006/chartDrawing">
    <cdr:from>
      <cdr:x>0.43064</cdr:x>
      <cdr:y>0.12829</cdr:y>
    </cdr:from>
    <cdr:to>
      <cdr:x>0.48924</cdr:x>
      <cdr:y>0.24524</cdr:y>
    </cdr:to>
    <cdr:pic>
      <cdr:nvPicPr>
        <cdr:cNvPr id="4" name="Graphic 3" descr="Question Mark with solid fill">
          <a:extLst xmlns:a="http://schemas.openxmlformats.org/drawingml/2006/main">
            <a:ext uri="{FF2B5EF4-FFF2-40B4-BE49-F238E27FC236}">
              <a16:creationId xmlns:a16="http://schemas.microsoft.com/office/drawing/2014/main" id="{ACDC35AF-56DF-476F-864E-A9CD5E8168CA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>
          <a:extLst>
            <a:ext uri="{96DAC541-7B7A-43D3-8B79-37D633B846F1}">
              <asvg:svgBlip xmlns:asvg="http://schemas.microsoft.com/office/drawing/2016/SVG/main" r:embed="rId2"/>
            </a:ext>
          </a:extLst>
        </a:blip>
        <a:stretch xmlns:a="http://schemas.openxmlformats.org/drawingml/2006/main">
          <a:fillRect/>
        </a:stretch>
      </cdr:blipFill>
      <cdr:spPr>
        <a:xfrm xmlns:a="http://schemas.openxmlformats.org/drawingml/2006/main">
          <a:off x="3666091" y="547227"/>
          <a:ext cx="498856" cy="498856"/>
        </a:xfrm>
        <a:prstGeom xmlns:a="http://schemas.openxmlformats.org/drawingml/2006/main" prst="rect">
          <a:avLst/>
        </a:prstGeom>
      </cdr:spPr>
    </cdr:pic>
  </cdr:relSizeAnchor>
  <cdr:relSizeAnchor xmlns:cdr="http://schemas.openxmlformats.org/drawingml/2006/chartDrawing">
    <cdr:from>
      <cdr:x>0.12308</cdr:x>
      <cdr:y>0.73983</cdr:y>
    </cdr:from>
    <cdr:to>
      <cdr:x>0.22333</cdr:x>
      <cdr:y>0.79105</cdr:y>
    </cdr:to>
    <cdr:sp macro="" textlink="">
      <cdr:nvSpPr>
        <cdr:cNvPr id="5" name="TextBox 4">
          <a:extLst xmlns:a="http://schemas.openxmlformats.org/drawingml/2006/main">
            <a:ext uri="{FF2B5EF4-FFF2-40B4-BE49-F238E27FC236}">
              <a16:creationId xmlns:a16="http://schemas.microsoft.com/office/drawing/2014/main" id="{1F01F5B9-C9A7-A5A0-E05D-815B86F15880}"/>
            </a:ext>
          </a:extLst>
        </cdr:cNvPr>
        <cdr:cNvSpPr txBox="1"/>
      </cdr:nvSpPr>
      <cdr:spPr>
        <a:xfrm xmlns:a="http://schemas.openxmlformats.org/drawingml/2006/main">
          <a:off x="1047750" y="3155711"/>
          <a:ext cx="853440" cy="21850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RO" sz="800" b="1" kern="1200" dirty="0"/>
            <a:t>NO AWARENESS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0624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49D97-94A3-4FEB-2F6B-1BAF5482E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019CA3-8757-FF01-5AB7-D9BD00ADC0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726B61-6C0F-6D89-7C48-AC64A4710E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107FBE-D4E9-C89D-667B-A75153EB76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360664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205F4-7C1A-D4A6-7221-84C2C5399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190440-2CA6-105A-D390-C43488B41A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DFB7A1-2D7F-1026-044C-D5263A5DD1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7CAB5E-4F27-9A1D-CD10-313BF93677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63193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B288F-E6FE-AFF2-4498-B2F676276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A43692-36BC-8FEF-CF8B-87E3D2534F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D22E48-6DE2-28E6-C132-012D87CCB8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871F13-A89B-C241-5B31-36C6D58B79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9981596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247FD-8C08-2C59-9A67-466195F65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82C543-2D38-E656-6D48-F528C423B3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138494-A16B-734A-A5BD-E8F831F33A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A73CAF-2824-FC1C-623F-40F54F278A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250543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4754A-203D-5B02-F8FE-8EA302BF3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A66F5E-8961-2F18-8E63-D43DA0C35A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1B9B6E-6852-199B-88F8-6B679FCB76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B5D74-8AD0-40D2-2F46-D5CFFF017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744383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GB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23584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8590008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b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RO" dirty="0"/>
          </a:p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9152172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FA8A-84FA-ED4B-83F3-C7949D98B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26A423-FD13-2D58-FE8C-5EF55E8605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1883E2-D9F0-CCA5-85FE-5018F0A372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27735386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FE6CA-B39D-10D2-2D46-4A89D1ACF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3089BD-81F7-2337-EB4A-CF494D75C4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6E3299-EAF4-705C-4A83-2DE721A10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33379695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90F01-5BB8-F478-DF94-AA715C9F2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56FB8C-444A-5D3B-39F1-E6736F50DC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B3CAB3-D439-6AC8-3A05-20BB30320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11063729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D298C-D1C4-48E7-8399-9A29C956E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CF6E2C-D7DE-7DB6-8EFA-5B438B1DB2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5BBBAD-A269-86A2-D9A5-6DDD220C3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12420965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7E39C-01DD-E3F0-19EA-A01F61A6F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89E34E-CEA3-F447-E9F2-DBDE825065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DB3C1F-7C23-C413-BE96-2492DD6D6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0027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192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824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900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233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995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184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755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670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54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699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676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658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6111" y="798703"/>
            <a:ext cx="3915889" cy="3072015"/>
          </a:xfrm>
        </p:spPr>
        <p:txBody>
          <a:bodyPr anchor="b">
            <a:normAutofit/>
          </a:bodyPr>
          <a:lstStyle/>
          <a:p>
            <a:r>
              <a:rPr lang="en-GB" sz="5600"/>
              <a:t>Introduction to CI/CD Pipelines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2611" y="3962792"/>
            <a:ext cx="3915888" cy="2102108"/>
          </a:xfrm>
        </p:spPr>
        <p:txBody>
          <a:bodyPr anchor="t">
            <a:normAutofit/>
          </a:bodyPr>
          <a:lstStyle/>
          <a:p>
            <a:r>
              <a:t>Continuous Integration and Continuous Delivery / Deployment</a:t>
            </a:r>
          </a:p>
        </p:txBody>
      </p:sp>
      <p:pic>
        <p:nvPicPr>
          <p:cNvPr id="1028" name="Picture 4" descr="What is CI/CD Pipeline in DevOps?">
            <a:extLst>
              <a:ext uri="{FF2B5EF4-FFF2-40B4-BE49-F238E27FC236}">
                <a16:creationId xmlns:a16="http://schemas.microsoft.com/office/drawing/2014/main" id="{A9FA03E9-D0B9-229D-FDB6-B3E0C9496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88432" y="2362823"/>
            <a:ext cx="3704628" cy="1749407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4AA257-4CCB-E065-ACCD-5A8A3886F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person sitting in a chair&#10;&#10;AI-generated content may be incorrect.">
            <a:extLst>
              <a:ext uri="{FF2B5EF4-FFF2-40B4-BE49-F238E27FC236}">
                <a16:creationId xmlns:a16="http://schemas.microsoft.com/office/drawing/2014/main" id="{A771A460-8C3E-5276-2FE4-6749F28CB6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791" b="9092"/>
          <a:stretch>
            <a:fillRect/>
          </a:stretch>
        </p:blipFill>
        <p:spPr>
          <a:xfrm>
            <a:off x="2642616" y="10"/>
            <a:ext cx="6501384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317450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57FB1A7-7073-1EF1-CEF9-5239E2CB19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485" y="1122363"/>
            <a:ext cx="3017520" cy="3204134"/>
          </a:xfrm>
        </p:spPr>
        <p:txBody>
          <a:bodyPr anchor="b">
            <a:normAutofit/>
          </a:bodyPr>
          <a:lstStyle/>
          <a:p>
            <a:pPr algn="l"/>
            <a:r>
              <a:rPr lang="en-RO" sz="4200"/>
              <a:t>Who am I?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5DFBC6B9-21DA-B064-4DA2-2C845F3E72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485" y="4872922"/>
            <a:ext cx="3311815" cy="1208141"/>
          </a:xfrm>
        </p:spPr>
        <p:txBody>
          <a:bodyPr>
            <a:normAutofit lnSpcReduction="10000"/>
          </a:bodyPr>
          <a:lstStyle/>
          <a:p>
            <a:pPr marL="285750" indent="-285750" algn="l">
              <a:buFont typeface="Wingdings" pitchFamily="2" charset="2"/>
              <a:buChar char="ü"/>
            </a:pPr>
            <a:r>
              <a:rPr lang="en-RO" sz="1700" dirty="0"/>
              <a:t>Software DevOps Engineer</a:t>
            </a:r>
          </a:p>
          <a:p>
            <a:pPr marL="285750" indent="-285750" algn="l">
              <a:buFont typeface="Wingdings" pitchFamily="2" charset="2"/>
              <a:buChar char="ü"/>
            </a:pPr>
            <a:r>
              <a:rPr lang="en-RO" sz="1700" dirty="0"/>
              <a:t>Masters Degree in IT Management</a:t>
            </a:r>
          </a:p>
          <a:p>
            <a:pPr marL="285750" indent="-285750" algn="l">
              <a:buFont typeface="Wingdings" pitchFamily="2" charset="2"/>
              <a:buChar char="ü"/>
            </a:pPr>
            <a:r>
              <a:rPr lang="en-RO" sz="1700" dirty="0"/>
              <a:t>DevOps Speaker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298323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1060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6DB547-140A-9C5F-22B5-E0C183057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D86FA76-2B27-9A03-05B2-AE86F9AD64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451381"/>
            <a:ext cx="7884414" cy="4066540"/>
          </a:xfrm>
        </p:spPr>
        <p:txBody>
          <a:bodyPr anchor="b">
            <a:normAutofit/>
          </a:bodyPr>
          <a:lstStyle/>
          <a:p>
            <a:pPr algn="l"/>
            <a:r>
              <a:rPr lang="en-RO" sz="4800" b="1" dirty="0"/>
              <a:t>Software DevOps Engineer? </a:t>
            </a:r>
            <a:r>
              <a:rPr lang="en-RO" sz="4800" dirty="0"/>
              <a:t>🤔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922372F-D5C3-0FB5-780E-C695C84E08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49" y="4983276"/>
            <a:ext cx="7884414" cy="1126680"/>
          </a:xfrm>
        </p:spPr>
        <p:txBody>
          <a:bodyPr>
            <a:normAutofit/>
          </a:bodyPr>
          <a:lstStyle/>
          <a:p>
            <a:pPr algn="l"/>
            <a:endParaRPr lang="en-RO" dirty="0"/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4718595"/>
            <a:ext cx="4057650" cy="18288"/>
          </a:xfrm>
          <a:custGeom>
            <a:avLst/>
            <a:gdLst>
              <a:gd name="csX0" fmla="*/ 0 w 4057650"/>
              <a:gd name="csY0" fmla="*/ 0 h 18288"/>
              <a:gd name="csX1" fmla="*/ 757428 w 4057650"/>
              <a:gd name="csY1" fmla="*/ 0 h 18288"/>
              <a:gd name="csX2" fmla="*/ 1474279 w 4057650"/>
              <a:gd name="csY2" fmla="*/ 0 h 18288"/>
              <a:gd name="csX3" fmla="*/ 2191131 w 4057650"/>
              <a:gd name="csY3" fmla="*/ 0 h 18288"/>
              <a:gd name="csX4" fmla="*/ 2745676 w 4057650"/>
              <a:gd name="csY4" fmla="*/ 0 h 18288"/>
              <a:gd name="csX5" fmla="*/ 3340798 w 4057650"/>
              <a:gd name="csY5" fmla="*/ 0 h 18288"/>
              <a:gd name="csX6" fmla="*/ 4057650 w 4057650"/>
              <a:gd name="csY6" fmla="*/ 0 h 18288"/>
              <a:gd name="csX7" fmla="*/ 4057650 w 4057650"/>
              <a:gd name="csY7" fmla="*/ 18288 h 18288"/>
              <a:gd name="csX8" fmla="*/ 3381375 w 4057650"/>
              <a:gd name="csY8" fmla="*/ 18288 h 18288"/>
              <a:gd name="csX9" fmla="*/ 2826830 w 4057650"/>
              <a:gd name="csY9" fmla="*/ 18288 h 18288"/>
              <a:gd name="csX10" fmla="*/ 2272284 w 4057650"/>
              <a:gd name="csY10" fmla="*/ 18288 h 18288"/>
              <a:gd name="csX11" fmla="*/ 1555432 w 4057650"/>
              <a:gd name="csY11" fmla="*/ 18288 h 18288"/>
              <a:gd name="csX12" fmla="*/ 960310 w 4057650"/>
              <a:gd name="csY12" fmla="*/ 18288 h 18288"/>
              <a:gd name="csX13" fmla="*/ 0 w 4057650"/>
              <a:gd name="csY13" fmla="*/ 18288 h 18288"/>
              <a:gd name="csX14" fmla="*/ 0 w 4057650"/>
              <a:gd name="csY1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4057650" h="18288" fill="none" extrusionOk="0">
                <a:moveTo>
                  <a:pt x="0" y="0"/>
                </a:moveTo>
                <a:cubicBezTo>
                  <a:pt x="371182" y="3227"/>
                  <a:pt x="494372" y="9222"/>
                  <a:pt x="757428" y="0"/>
                </a:cubicBezTo>
                <a:cubicBezTo>
                  <a:pt x="1020484" y="-9222"/>
                  <a:pt x="1116719" y="-4357"/>
                  <a:pt x="1474279" y="0"/>
                </a:cubicBezTo>
                <a:cubicBezTo>
                  <a:pt x="1831839" y="4357"/>
                  <a:pt x="1920973" y="-11809"/>
                  <a:pt x="2191131" y="0"/>
                </a:cubicBezTo>
                <a:cubicBezTo>
                  <a:pt x="2461289" y="11809"/>
                  <a:pt x="2589480" y="-22604"/>
                  <a:pt x="2745676" y="0"/>
                </a:cubicBezTo>
                <a:cubicBezTo>
                  <a:pt x="2901872" y="22604"/>
                  <a:pt x="3136452" y="-12306"/>
                  <a:pt x="3340798" y="0"/>
                </a:cubicBezTo>
                <a:cubicBezTo>
                  <a:pt x="3545144" y="12306"/>
                  <a:pt x="3766934" y="-21556"/>
                  <a:pt x="4057650" y="0"/>
                </a:cubicBezTo>
                <a:cubicBezTo>
                  <a:pt x="4057150" y="8855"/>
                  <a:pt x="4057759" y="14521"/>
                  <a:pt x="4057650" y="18288"/>
                </a:cubicBezTo>
                <a:cubicBezTo>
                  <a:pt x="3743404" y="40125"/>
                  <a:pt x="3625516" y="-14923"/>
                  <a:pt x="3381375" y="18288"/>
                </a:cubicBezTo>
                <a:cubicBezTo>
                  <a:pt x="3137235" y="51499"/>
                  <a:pt x="2946571" y="1"/>
                  <a:pt x="2826830" y="18288"/>
                </a:cubicBezTo>
                <a:cubicBezTo>
                  <a:pt x="2707090" y="36575"/>
                  <a:pt x="2402756" y="1432"/>
                  <a:pt x="2272284" y="18288"/>
                </a:cubicBezTo>
                <a:cubicBezTo>
                  <a:pt x="2141812" y="35144"/>
                  <a:pt x="1895935" y="18199"/>
                  <a:pt x="1555432" y="18288"/>
                </a:cubicBezTo>
                <a:cubicBezTo>
                  <a:pt x="1214929" y="18377"/>
                  <a:pt x="1103072" y="14503"/>
                  <a:pt x="960310" y="18288"/>
                </a:cubicBezTo>
                <a:cubicBezTo>
                  <a:pt x="817548" y="22073"/>
                  <a:pt x="402272" y="-29359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057650" h="18288" stroke="0" extrusionOk="0">
                <a:moveTo>
                  <a:pt x="0" y="0"/>
                </a:moveTo>
                <a:cubicBezTo>
                  <a:pt x="248348" y="13145"/>
                  <a:pt x="486117" y="25042"/>
                  <a:pt x="635698" y="0"/>
                </a:cubicBezTo>
                <a:cubicBezTo>
                  <a:pt x="785279" y="-25042"/>
                  <a:pt x="917762" y="-5537"/>
                  <a:pt x="1190244" y="0"/>
                </a:cubicBezTo>
                <a:cubicBezTo>
                  <a:pt x="1462726" y="5537"/>
                  <a:pt x="1667120" y="-21232"/>
                  <a:pt x="1947672" y="0"/>
                </a:cubicBezTo>
                <a:cubicBezTo>
                  <a:pt x="2228224" y="21232"/>
                  <a:pt x="2280631" y="-21698"/>
                  <a:pt x="2583370" y="0"/>
                </a:cubicBezTo>
                <a:cubicBezTo>
                  <a:pt x="2886109" y="21698"/>
                  <a:pt x="3022941" y="19647"/>
                  <a:pt x="3219069" y="0"/>
                </a:cubicBezTo>
                <a:cubicBezTo>
                  <a:pt x="3415197" y="-19647"/>
                  <a:pt x="3747500" y="26991"/>
                  <a:pt x="4057650" y="0"/>
                </a:cubicBezTo>
                <a:cubicBezTo>
                  <a:pt x="4056752" y="7180"/>
                  <a:pt x="4057819" y="13790"/>
                  <a:pt x="4057650" y="18288"/>
                </a:cubicBezTo>
                <a:cubicBezTo>
                  <a:pt x="3865148" y="-3313"/>
                  <a:pt x="3702543" y="49468"/>
                  <a:pt x="3381375" y="18288"/>
                </a:cubicBezTo>
                <a:cubicBezTo>
                  <a:pt x="3060208" y="-12892"/>
                  <a:pt x="2956571" y="-8678"/>
                  <a:pt x="2826830" y="18288"/>
                </a:cubicBezTo>
                <a:cubicBezTo>
                  <a:pt x="2697089" y="45254"/>
                  <a:pt x="2411031" y="43154"/>
                  <a:pt x="2150555" y="18288"/>
                </a:cubicBezTo>
                <a:cubicBezTo>
                  <a:pt x="1890080" y="-6578"/>
                  <a:pt x="1741827" y="-615"/>
                  <a:pt x="1474280" y="18288"/>
                </a:cubicBezTo>
                <a:cubicBezTo>
                  <a:pt x="1206734" y="37191"/>
                  <a:pt x="998203" y="33335"/>
                  <a:pt x="838581" y="18288"/>
                </a:cubicBezTo>
                <a:cubicBezTo>
                  <a:pt x="678959" y="3241"/>
                  <a:pt x="187101" y="-13212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833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95F966-1039-9856-CC66-F86702FDE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052A1419-ACC1-9D97-E1E6-3FC661BA94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RO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6ED83E3-74AF-AE54-D56E-4363C029A5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RO"/>
              <a:t>THE PARETO PRINCIPLE</a:t>
            </a:r>
            <a:endParaRPr lang="en-RO" dirty="0"/>
          </a:p>
        </p:txBody>
      </p:sp>
      <p:pic>
        <p:nvPicPr>
          <p:cNvPr id="1026" name="Picture 2" descr="What is the Pareto Principle? | IxDF">
            <a:extLst>
              <a:ext uri="{FF2B5EF4-FFF2-40B4-BE49-F238E27FC236}">
                <a16:creationId xmlns:a16="http://schemas.microsoft.com/office/drawing/2014/main" id="{8152CFD4-F4D8-4010-D784-5CE4F6DD1B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5663"/>
            <a:ext cx="9144000" cy="5145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1587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0EA93B-BA66-31EB-B00F-340D81E54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9" name="Rectangle 3088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8" name="Rectangle 3087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0" name="Freeform: Shape 3089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074" name="Picture 2" descr="What Is the CI/CD Pipeline? - Palo Alto Networks">
            <a:extLst>
              <a:ext uri="{FF2B5EF4-FFF2-40B4-BE49-F238E27FC236}">
                <a16:creationId xmlns:a16="http://schemas.microsoft.com/office/drawing/2014/main" id="{642A6307-0CC5-DF00-2740-938A86434A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75" r="14209"/>
          <a:stretch>
            <a:fillRect/>
          </a:stretch>
        </p:blipFill>
        <p:spPr bwMode="auto">
          <a:xfrm>
            <a:off x="415964" y="228600"/>
            <a:ext cx="8254921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6843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77DE94-11CA-C4E1-1146-2810B890A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9" name="Rectangle 3088">
            <a:extLst>
              <a:ext uri="{FF2B5EF4-FFF2-40B4-BE49-F238E27FC236}">
                <a16:creationId xmlns:a16="http://schemas.microsoft.com/office/drawing/2014/main" id="{CA040A53-05BF-9613-DA64-4B9571D48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8" name="Rectangle 3087">
            <a:extLst>
              <a:ext uri="{FF2B5EF4-FFF2-40B4-BE49-F238E27FC236}">
                <a16:creationId xmlns:a16="http://schemas.microsoft.com/office/drawing/2014/main" id="{96536163-966D-5D45-7E70-7AADDD20F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0" name="Freeform: Shape 3089">
            <a:extLst>
              <a:ext uri="{FF2B5EF4-FFF2-40B4-BE49-F238E27FC236}">
                <a16:creationId xmlns:a16="http://schemas.microsoft.com/office/drawing/2014/main" id="{36598A13-F2A6-5EAD-4D99-16E24A6064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170" name="Picture 2" descr="What's Up With Backstories?">
            <a:extLst>
              <a:ext uri="{FF2B5EF4-FFF2-40B4-BE49-F238E27FC236}">
                <a16:creationId xmlns:a16="http://schemas.microsoft.com/office/drawing/2014/main" id="{91332D98-6660-18D4-0CFC-4BE9E4AF22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57" y="520256"/>
            <a:ext cx="7924800" cy="4437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1882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r>
              <a:rPr lang="en-GB" sz="4700"/>
              <a:t>What is CI/CD?</a:t>
            </a:r>
          </a:p>
        </p:txBody>
      </p:sp>
      <p:sp>
        <p:nvSpPr>
          <p:cNvPr id="308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369" y="2071316"/>
            <a:ext cx="5035164" cy="4119172"/>
          </a:xfrm>
        </p:spPr>
        <p:txBody>
          <a:bodyPr anchor="t">
            <a:normAutofit/>
          </a:bodyPr>
          <a:lstStyle/>
          <a:p>
            <a:r>
              <a:rPr lang="en-GB" sz="2300" dirty="0"/>
              <a:t>CI/CD is a set of practices that automate software build, test, and release processes</a:t>
            </a:r>
          </a:p>
          <a:p>
            <a:r>
              <a:rPr lang="en-GB" sz="2300" dirty="0"/>
              <a:t>CI = Continuous Integration</a:t>
            </a:r>
          </a:p>
          <a:p>
            <a:r>
              <a:rPr lang="en-GB" sz="2300" dirty="0"/>
              <a:t>CD = Continuous Delivery or Continuous Deployment</a:t>
            </a:r>
          </a:p>
          <a:p>
            <a:r>
              <a:rPr lang="en-GB" sz="2300" dirty="0"/>
              <a:t>Goal: deliver software faster, more reliably, and with fewer errors</a:t>
            </a:r>
          </a:p>
        </p:txBody>
      </p:sp>
      <p:pic>
        <p:nvPicPr>
          <p:cNvPr id="3074" name="Picture 2" descr="Cicd Pipeline Icons - Free Download in SVG, PNG">
            <a:extLst>
              <a:ext uri="{FF2B5EF4-FFF2-40B4-BE49-F238E27FC236}">
                <a16:creationId xmlns:a16="http://schemas.microsoft.com/office/drawing/2014/main" id="{5A976C68-AC9E-5DDD-0729-4FDD1AD00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39" r="15808" b="2"/>
          <a:stretch>
            <a:fillRect/>
          </a:stretch>
        </p:blipFill>
        <p:spPr bwMode="auto">
          <a:xfrm>
            <a:off x="5756743" y="2093976"/>
            <a:ext cx="2955798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r>
              <a:rPr lang="en-GB" sz="4700" dirty="0"/>
              <a:t>Why CI/CD Matters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369" y="2071316"/>
            <a:ext cx="5035164" cy="4119172"/>
          </a:xfrm>
        </p:spPr>
        <p:txBody>
          <a:bodyPr anchor="t">
            <a:normAutofit/>
          </a:bodyPr>
          <a:lstStyle/>
          <a:p>
            <a:r>
              <a:rPr lang="en-GB" sz="2300" dirty="0"/>
              <a:t>Reduces manual effort and human error</a:t>
            </a:r>
          </a:p>
          <a:p>
            <a:r>
              <a:rPr lang="en-GB" sz="2300" dirty="0"/>
              <a:t>Enables faster feedback on code changes</a:t>
            </a:r>
          </a:p>
          <a:p>
            <a:r>
              <a:rPr lang="en-GB" sz="2300" dirty="0"/>
              <a:t>Improves software quality and stability</a:t>
            </a:r>
          </a:p>
          <a:p>
            <a:r>
              <a:rPr lang="en-GB" sz="2300" dirty="0"/>
              <a:t>Supports frequent and predictable releases</a:t>
            </a:r>
          </a:p>
        </p:txBody>
      </p:sp>
      <p:pic>
        <p:nvPicPr>
          <p:cNvPr id="5" name="Picture 4" descr="Why - Free business and finance icons">
            <a:extLst>
              <a:ext uri="{FF2B5EF4-FFF2-40B4-BE49-F238E27FC236}">
                <a16:creationId xmlns:a16="http://schemas.microsoft.com/office/drawing/2014/main" id="{7AEB9CED-20F3-E256-B605-3D30C04A4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31" r="13315"/>
          <a:stretch>
            <a:fillRect/>
          </a:stretch>
        </p:blipFill>
        <p:spPr bwMode="auto">
          <a:xfrm>
            <a:off x="5756743" y="2093976"/>
            <a:ext cx="2955798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8" name="Rectangle 6157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r>
              <a:rPr lang="en-GB" sz="4700"/>
              <a:t>Continuous Integration (CI)</a:t>
            </a:r>
          </a:p>
        </p:txBody>
      </p:sp>
      <p:sp>
        <p:nvSpPr>
          <p:cNvPr id="6160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369" y="2071316"/>
            <a:ext cx="5035164" cy="4119172"/>
          </a:xfrm>
        </p:spPr>
        <p:txBody>
          <a:bodyPr anchor="t">
            <a:normAutofit/>
          </a:bodyPr>
          <a:lstStyle/>
          <a:p>
            <a:r>
              <a:rPr lang="en-GB" sz="2300" dirty="0"/>
              <a:t>Developers frequently merge code changes into a shared repository</a:t>
            </a:r>
          </a:p>
          <a:p>
            <a:r>
              <a:rPr lang="en-GB" sz="2300" dirty="0"/>
              <a:t>Each change triggers an automated build and test process</a:t>
            </a:r>
          </a:p>
          <a:p>
            <a:r>
              <a:rPr lang="en-GB" sz="2300" dirty="0"/>
              <a:t>Problems are detected early in the development cycle</a:t>
            </a:r>
          </a:p>
          <a:p>
            <a:r>
              <a:rPr lang="en-GB" sz="2300" dirty="0"/>
              <a:t>Encourages smaller, incremental changes</a:t>
            </a:r>
          </a:p>
        </p:txBody>
      </p:sp>
      <p:pic>
        <p:nvPicPr>
          <p:cNvPr id="6148" name="Picture 4" descr="Integration - Free networking icons">
            <a:extLst>
              <a:ext uri="{FF2B5EF4-FFF2-40B4-BE49-F238E27FC236}">
                <a16:creationId xmlns:a16="http://schemas.microsoft.com/office/drawing/2014/main" id="{C15D60FD-9933-E683-4D42-7C49D66CF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4" r="14042"/>
          <a:stretch>
            <a:fillRect/>
          </a:stretch>
        </p:blipFill>
        <p:spPr bwMode="auto">
          <a:xfrm>
            <a:off x="5756743" y="2093976"/>
            <a:ext cx="2955798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AEC209-EECF-86F9-6286-D8256DD47CA2}"/>
              </a:ext>
            </a:extLst>
          </p:cNvPr>
          <p:cNvSpPr txBox="1"/>
          <p:nvPr/>
        </p:nvSpPr>
        <p:spPr>
          <a:xfrm>
            <a:off x="3596640" y="1524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RO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>
            <a:normAutofit/>
          </a:bodyPr>
          <a:lstStyle/>
          <a:p>
            <a:r>
              <a:rPr lang="en-GB" sz="3500"/>
              <a:t>Continuous Delivery vs Continuous Deployment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C96A9E-2285-267D-6EF7-D62F5E5FD2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7425693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r>
              <a:rPr lang="en-GB" sz="4700"/>
              <a:t>What is a CI/CD Pipeline?</a:t>
            </a:r>
          </a:p>
        </p:txBody>
      </p:sp>
      <p:sp>
        <p:nvSpPr>
          <p:cNvPr id="5129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369" y="2071316"/>
            <a:ext cx="5035164" cy="4119172"/>
          </a:xfrm>
        </p:spPr>
        <p:txBody>
          <a:bodyPr anchor="t">
            <a:normAutofit/>
          </a:bodyPr>
          <a:lstStyle/>
          <a:p>
            <a:r>
              <a:rPr lang="en-GB" sz="2300" dirty="0"/>
              <a:t>A pipeline is an automated sequence of steps</a:t>
            </a:r>
          </a:p>
          <a:p>
            <a:r>
              <a:rPr lang="en-GB" sz="2300" dirty="0"/>
              <a:t>Common stages: build, test, security checks, deploy</a:t>
            </a:r>
          </a:p>
          <a:p>
            <a:r>
              <a:rPr lang="en-GB" sz="2300" dirty="0"/>
              <a:t>Pipelines enforce consistency and repeatability</a:t>
            </a:r>
          </a:p>
          <a:p>
            <a:r>
              <a:rPr lang="en-GB" sz="2300" dirty="0"/>
              <a:t>Often defined as code (Pipeline as Code)</a:t>
            </a:r>
          </a:p>
        </p:txBody>
      </p:sp>
      <p:pic>
        <p:nvPicPr>
          <p:cNvPr id="5122" name="Picture 2" descr="Pipeline Icons - Free SVG &amp; PNG Pipeline Images - Noun Project">
            <a:extLst>
              <a:ext uri="{FF2B5EF4-FFF2-40B4-BE49-F238E27FC236}">
                <a16:creationId xmlns:a16="http://schemas.microsoft.com/office/drawing/2014/main" id="{5F28C66E-56C8-54E6-4FF5-A58269A3C0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78" r="17566"/>
          <a:stretch>
            <a:fillRect/>
          </a:stretch>
        </p:blipFill>
        <p:spPr bwMode="auto">
          <a:xfrm>
            <a:off x="5756743" y="2093976"/>
            <a:ext cx="2955798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Continuous Integration, Delivery and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7273" y="2112944"/>
            <a:ext cx="7886700" cy="4351338"/>
          </a:xfrm>
        </p:spPr>
        <p:txBody>
          <a:bodyPr/>
          <a:lstStyle/>
          <a:p>
            <a:pPr marL="179021" indent="0">
              <a:buNone/>
            </a:pPr>
            <a:endParaRPr lang="en-US" dirty="0"/>
          </a:p>
          <a:p>
            <a:pPr marL="179021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204" y="1841112"/>
            <a:ext cx="8551825" cy="399737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15021" y="2302809"/>
            <a:ext cx="1127532" cy="69342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b="1" dirty="0"/>
              <a:t>Developer</a:t>
            </a:r>
          </a:p>
          <a:p>
            <a:pPr algn="ctr"/>
            <a:r>
              <a:rPr lang="en-US" sz="900" dirty="0"/>
              <a:t>Writes Code</a:t>
            </a:r>
          </a:p>
          <a:p>
            <a:pPr algn="ctr"/>
            <a:endParaRPr lang="en-US" sz="900" dirty="0"/>
          </a:p>
          <a:p>
            <a:pPr algn="ctr"/>
            <a:endParaRPr lang="en-US" sz="900" dirty="0"/>
          </a:p>
        </p:txBody>
      </p:sp>
      <p:sp>
        <p:nvSpPr>
          <p:cNvPr id="7" name="Rounded Rectangle 6"/>
          <p:cNvSpPr/>
          <p:nvPr/>
        </p:nvSpPr>
        <p:spPr>
          <a:xfrm>
            <a:off x="2690481" y="2302809"/>
            <a:ext cx="1127532" cy="69342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b="1" dirty="0"/>
              <a:t>Build</a:t>
            </a:r>
            <a:r>
              <a:rPr lang="en-US" sz="900" dirty="0"/>
              <a:t> application from source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10063" y="2302809"/>
            <a:ext cx="1127760" cy="69342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50" dirty="0"/>
              <a:t>Run automated </a:t>
            </a:r>
            <a:r>
              <a:rPr lang="en-US" sz="1050" b="1" dirty="0"/>
              <a:t>tests</a:t>
            </a:r>
            <a:endParaRPr lang="en-US" sz="1050" dirty="0"/>
          </a:p>
        </p:txBody>
      </p:sp>
      <p:sp>
        <p:nvSpPr>
          <p:cNvPr id="9" name="Rounded Rectangle 8"/>
          <p:cNvSpPr/>
          <p:nvPr/>
        </p:nvSpPr>
        <p:spPr>
          <a:xfrm>
            <a:off x="6356083" y="2302809"/>
            <a:ext cx="1203960" cy="69342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/>
              <a:t>Merge</a:t>
            </a:r>
            <a:r>
              <a:rPr lang="en-US" sz="1200" dirty="0"/>
              <a:t> changes</a:t>
            </a:r>
            <a:endParaRPr lang="en-US" sz="1200" b="1" dirty="0"/>
          </a:p>
        </p:txBody>
      </p:sp>
      <p:sp>
        <p:nvSpPr>
          <p:cNvPr id="10" name="Rounded Rectangle 9"/>
          <p:cNvSpPr/>
          <p:nvPr/>
        </p:nvSpPr>
        <p:spPr>
          <a:xfrm>
            <a:off x="6356083" y="3499149"/>
            <a:ext cx="1203960" cy="65621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/>
              <a:t>Release</a:t>
            </a:r>
          </a:p>
          <a:p>
            <a:pPr algn="ctr"/>
            <a:r>
              <a:rPr lang="en-US" sz="1200" dirty="0"/>
              <a:t>delivered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6083" y="4685173"/>
            <a:ext cx="1203960" cy="74362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b="1" dirty="0"/>
              <a:t>Deploying</a:t>
            </a:r>
            <a:r>
              <a:rPr lang="en-US" sz="1000" dirty="0"/>
              <a:t> on client machine</a:t>
            </a:r>
          </a:p>
          <a:p>
            <a:pPr algn="ctr"/>
            <a:endParaRPr lang="en-US" sz="1000" dirty="0"/>
          </a:p>
          <a:p>
            <a:pPr algn="ctr"/>
            <a:endParaRPr lang="en-US" sz="1000" dirty="0"/>
          </a:p>
        </p:txBody>
      </p:sp>
      <p:sp>
        <p:nvSpPr>
          <p:cNvPr id="12" name="Rounded Rectangle 11"/>
          <p:cNvSpPr/>
          <p:nvPr/>
        </p:nvSpPr>
        <p:spPr>
          <a:xfrm>
            <a:off x="2690481" y="3499149"/>
            <a:ext cx="1127532" cy="656214"/>
          </a:xfrm>
          <a:prstGeom prst="roundRect">
            <a:avLst/>
          </a:prstGeom>
          <a:solidFill>
            <a:srgbClr val="B5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/>
              <a:t>Problem detected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0356" y="2717879"/>
            <a:ext cx="296862" cy="251460"/>
          </a:xfrm>
          <a:prstGeom prst="rect">
            <a:avLst/>
          </a:prstGeom>
        </p:spPr>
      </p:pic>
      <p:cxnSp>
        <p:nvCxnSpPr>
          <p:cNvPr id="15" name="Straight Arrow Connector 14"/>
          <p:cNvCxnSpPr/>
          <p:nvPr/>
        </p:nvCxnSpPr>
        <p:spPr>
          <a:xfrm>
            <a:off x="2042553" y="2645709"/>
            <a:ext cx="647928" cy="0"/>
          </a:xfrm>
          <a:prstGeom prst="straightConnector1">
            <a:avLst/>
          </a:prstGeom>
          <a:ln w="9525" cmpd="sng">
            <a:solidFill>
              <a:schemeClr val="accent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3818014" y="2645709"/>
            <a:ext cx="92050" cy="0"/>
          </a:xfrm>
          <a:prstGeom prst="straightConnector1">
            <a:avLst/>
          </a:prstGeom>
          <a:ln w="9525" cmpd="sng">
            <a:solidFill>
              <a:schemeClr val="accent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5037823" y="2645709"/>
            <a:ext cx="1318260" cy="0"/>
          </a:xfrm>
          <a:prstGeom prst="straightConnector1">
            <a:avLst/>
          </a:prstGeom>
          <a:ln w="9525" cmpd="sng">
            <a:solidFill>
              <a:schemeClr val="bg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endCxn id="10" idx="0"/>
          </p:cNvCxnSpPr>
          <p:nvPr/>
        </p:nvCxnSpPr>
        <p:spPr>
          <a:xfrm>
            <a:off x="6950443" y="2996229"/>
            <a:ext cx="7620" cy="502920"/>
          </a:xfrm>
          <a:prstGeom prst="straightConnector1">
            <a:avLst/>
          </a:prstGeom>
          <a:ln w="9525" cmpd="sng">
            <a:solidFill>
              <a:schemeClr val="accent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6958063" y="4182253"/>
            <a:ext cx="7620" cy="502920"/>
          </a:xfrm>
          <a:prstGeom prst="straightConnector1">
            <a:avLst/>
          </a:prstGeom>
          <a:ln w="9525" cmpd="sng">
            <a:solidFill>
              <a:schemeClr val="accent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137493" y="2417109"/>
            <a:ext cx="1218590" cy="253916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00B050"/>
                </a:solidFill>
              </a:rPr>
              <a:t>Everything OK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5035" y="2682827"/>
            <a:ext cx="223838" cy="216799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4294" y="3466062"/>
            <a:ext cx="229553" cy="219836"/>
          </a:xfrm>
          <a:prstGeom prst="rect">
            <a:avLst/>
          </a:prstGeom>
        </p:spPr>
      </p:pic>
      <p:cxnSp>
        <p:nvCxnSpPr>
          <p:cNvPr id="27" name="Straight Arrow Connector 26"/>
          <p:cNvCxnSpPr>
            <a:stCxn id="7" idx="2"/>
          </p:cNvCxnSpPr>
          <p:nvPr/>
        </p:nvCxnSpPr>
        <p:spPr>
          <a:xfrm>
            <a:off x="3254247" y="2996229"/>
            <a:ext cx="0" cy="502920"/>
          </a:xfrm>
          <a:prstGeom prst="straightConnector1">
            <a:avLst/>
          </a:prstGeom>
          <a:ln w="9525" cmpd="sng">
            <a:solidFill>
              <a:schemeClr val="accent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75651" y="4671514"/>
            <a:ext cx="9605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Changes needed</a:t>
            </a:r>
          </a:p>
        </p:txBody>
      </p:sp>
      <p:cxnSp>
        <p:nvCxnSpPr>
          <p:cNvPr id="35" name="Elbow Connector 34"/>
          <p:cNvCxnSpPr>
            <a:stCxn id="12" idx="2"/>
            <a:endCxn id="30" idx="3"/>
          </p:cNvCxnSpPr>
          <p:nvPr/>
        </p:nvCxnSpPr>
        <p:spPr>
          <a:xfrm rot="5400000">
            <a:off x="2679426" y="4212108"/>
            <a:ext cx="631567" cy="518077"/>
          </a:xfrm>
          <a:prstGeom prst="bentConnector2">
            <a:avLst/>
          </a:prstGeom>
          <a:ln w="9525" cmpd="sng">
            <a:solidFill>
              <a:schemeClr val="accent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endCxn id="5" idx="2"/>
          </p:cNvCxnSpPr>
          <p:nvPr/>
        </p:nvCxnSpPr>
        <p:spPr>
          <a:xfrm flipV="1">
            <a:off x="1478787" y="2996230"/>
            <a:ext cx="0" cy="1790701"/>
          </a:xfrm>
          <a:prstGeom prst="straightConnector1">
            <a:avLst/>
          </a:prstGeom>
          <a:ln w="9525" cmpd="sng">
            <a:solidFill>
              <a:schemeClr val="accent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H="1">
            <a:off x="1478788" y="4786929"/>
            <a:ext cx="296863" cy="0"/>
          </a:xfrm>
          <a:prstGeom prst="line">
            <a:avLst/>
          </a:prstGeom>
          <a:ln w="9525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Snip Diagonal Corner Rectangle 41"/>
          <p:cNvSpPr/>
          <p:nvPr/>
        </p:nvSpPr>
        <p:spPr>
          <a:xfrm>
            <a:off x="1775651" y="2180889"/>
            <a:ext cx="625653" cy="289560"/>
          </a:xfrm>
          <a:prstGeom prst="snip2Diag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600" dirty="0" err="1"/>
              <a:t>Mybranch</a:t>
            </a:r>
            <a:endParaRPr lang="en-US" sz="600" dirty="0"/>
          </a:p>
          <a:p>
            <a:pPr algn="ctr"/>
            <a:r>
              <a:rPr lang="en-US" sz="600" dirty="0"/>
              <a:t>develop</a:t>
            </a:r>
          </a:p>
        </p:txBody>
      </p:sp>
      <p:sp>
        <p:nvSpPr>
          <p:cNvPr id="43" name="Snip Diagonal Corner Rectangle 42"/>
          <p:cNvSpPr/>
          <p:nvPr/>
        </p:nvSpPr>
        <p:spPr>
          <a:xfrm>
            <a:off x="7349064" y="2180889"/>
            <a:ext cx="625653" cy="289560"/>
          </a:xfrm>
          <a:prstGeom prst="snip2Diag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600" dirty="0"/>
              <a:t>master</a:t>
            </a:r>
          </a:p>
        </p:txBody>
      </p:sp>
      <p:sp>
        <p:nvSpPr>
          <p:cNvPr id="44" name="Snip Diagonal Corner Rectangle 43"/>
          <p:cNvSpPr/>
          <p:nvPr/>
        </p:nvSpPr>
        <p:spPr>
          <a:xfrm>
            <a:off x="7347875" y="3389537"/>
            <a:ext cx="625653" cy="289560"/>
          </a:xfrm>
          <a:prstGeom prst="snip2Diag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600" dirty="0"/>
              <a:t>Cloud repository</a:t>
            </a:r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954" y="5091729"/>
            <a:ext cx="436979" cy="321732"/>
          </a:xfrm>
          <a:prstGeom prst="rect">
            <a:avLst/>
          </a:prstGeom>
        </p:spPr>
      </p:pic>
      <p:sp>
        <p:nvSpPr>
          <p:cNvPr id="47" name="Right Brace 46"/>
          <p:cNvSpPr/>
          <p:nvPr/>
        </p:nvSpPr>
        <p:spPr>
          <a:xfrm>
            <a:off x="7973527" y="2127550"/>
            <a:ext cx="119916" cy="2041259"/>
          </a:xfrm>
          <a:prstGeom prst="rightBrace">
            <a:avLst/>
          </a:prstGeom>
          <a:ln w="9525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Arc 50"/>
          <p:cNvSpPr/>
          <p:nvPr/>
        </p:nvSpPr>
        <p:spPr>
          <a:xfrm>
            <a:off x="403093" y="2127549"/>
            <a:ext cx="4734400" cy="281940"/>
          </a:xfrm>
          <a:prstGeom prst="arc">
            <a:avLst/>
          </a:prstGeom>
          <a:ln w="9525" cmpd="sng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3001864" y="1903297"/>
            <a:ext cx="16611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Continuous Integration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93250" y="2958650"/>
            <a:ext cx="9167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Continuous Delivery</a:t>
            </a:r>
          </a:p>
        </p:txBody>
      </p:sp>
      <p:sp>
        <p:nvSpPr>
          <p:cNvPr id="57" name="Right Brace 56"/>
          <p:cNvSpPr/>
          <p:nvPr/>
        </p:nvSpPr>
        <p:spPr>
          <a:xfrm>
            <a:off x="7971966" y="4598186"/>
            <a:ext cx="119916" cy="905213"/>
          </a:xfrm>
          <a:prstGeom prst="rightBrace">
            <a:avLst/>
          </a:prstGeom>
          <a:ln w="9525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8086762" y="4847889"/>
            <a:ext cx="10572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Continuous Deployment</a:t>
            </a:r>
          </a:p>
        </p:txBody>
      </p:sp>
      <p:cxnSp>
        <p:nvCxnSpPr>
          <p:cNvPr id="62" name="Straight Connector 61"/>
          <p:cNvCxnSpPr>
            <a:cxnSpLocks/>
            <a:stCxn id="8" idx="2"/>
          </p:cNvCxnSpPr>
          <p:nvPr/>
        </p:nvCxnSpPr>
        <p:spPr>
          <a:xfrm>
            <a:off x="4473943" y="2996230"/>
            <a:ext cx="0" cy="831027"/>
          </a:xfrm>
          <a:prstGeom prst="line">
            <a:avLst/>
          </a:prstGeom>
          <a:ln w="9525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>
            <a:endCxn id="12" idx="3"/>
          </p:cNvCxnSpPr>
          <p:nvPr/>
        </p:nvCxnSpPr>
        <p:spPr>
          <a:xfrm flipH="1">
            <a:off x="3818014" y="3827256"/>
            <a:ext cx="655930" cy="0"/>
          </a:xfrm>
          <a:prstGeom prst="straightConnector1">
            <a:avLst/>
          </a:prstGeom>
          <a:ln w="9525" cmpd="sng">
            <a:solidFill>
              <a:schemeClr val="accent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44ADFDA-8BAF-803C-0F8A-EAEB2BCD48EE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5037823" y="2645709"/>
            <a:ext cx="1318260" cy="3810"/>
          </a:xfrm>
          <a:prstGeom prst="straightConnector1">
            <a:avLst/>
          </a:prstGeom>
          <a:ln w="9525" cmpd="sng">
            <a:solidFill>
              <a:schemeClr val="accent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Arc 17">
            <a:extLst>
              <a:ext uri="{FF2B5EF4-FFF2-40B4-BE49-F238E27FC236}">
                <a16:creationId xmlns:a16="http://schemas.microsoft.com/office/drawing/2014/main" id="{C4F3D32B-BBB4-A6EA-DD34-21E0948E7898}"/>
              </a:ext>
            </a:extLst>
          </p:cNvPr>
          <p:cNvSpPr/>
          <p:nvPr/>
        </p:nvSpPr>
        <p:spPr>
          <a:xfrm>
            <a:off x="-1522828" y="2114918"/>
            <a:ext cx="6312533" cy="375920"/>
          </a:xfrm>
          <a:prstGeom prst="arc">
            <a:avLst/>
          </a:prstGeom>
          <a:ln w="9525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125467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9" name="Rectangle 8198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r>
              <a:rPr lang="en-GB" sz="4700"/>
              <a:t>Common CI/CD Tools</a:t>
            </a:r>
          </a:p>
        </p:txBody>
      </p:sp>
      <p:sp>
        <p:nvSpPr>
          <p:cNvPr id="820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369" y="2071316"/>
            <a:ext cx="5035164" cy="4119172"/>
          </a:xfrm>
        </p:spPr>
        <p:txBody>
          <a:bodyPr anchor="t">
            <a:normAutofit/>
          </a:bodyPr>
          <a:lstStyle/>
          <a:p>
            <a:r>
              <a:rPr lang="en-GB" sz="2300" dirty="0"/>
              <a:t>Version Control: Git, GitHub, GitLab, Bitbucket</a:t>
            </a:r>
          </a:p>
          <a:p>
            <a:r>
              <a:rPr lang="en-GB" sz="2300" dirty="0"/>
              <a:t>CI/CD Platforms: Jenkins, GitHub Actions, GitLab CI, Azure DevOps</a:t>
            </a:r>
          </a:p>
          <a:p>
            <a:r>
              <a:rPr lang="en-GB" sz="2300" dirty="0"/>
              <a:t>Deployment &amp; Infrastructure: Docker, Kubernetes, Terraform</a:t>
            </a:r>
          </a:p>
        </p:txBody>
      </p:sp>
      <p:pic>
        <p:nvPicPr>
          <p:cNvPr id="8194" name="Picture 2" descr="Tool - Free construction and tools icons">
            <a:extLst>
              <a:ext uri="{FF2B5EF4-FFF2-40B4-BE49-F238E27FC236}">
                <a16:creationId xmlns:a16="http://schemas.microsoft.com/office/drawing/2014/main" id="{C6572659-AD08-0705-6C7B-94F1CE9B46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6"/>
          <a:stretch>
            <a:fillRect/>
          </a:stretch>
        </p:blipFill>
        <p:spPr bwMode="auto">
          <a:xfrm>
            <a:off x="5756743" y="2093976"/>
            <a:ext cx="2955798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3" name="Rectangle 9222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r>
              <a:rPr lang="en-GB" sz="4700"/>
              <a:t>Key Takeaways</a:t>
            </a:r>
          </a:p>
        </p:txBody>
      </p:sp>
      <p:sp>
        <p:nvSpPr>
          <p:cNvPr id="9225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369" y="2071316"/>
            <a:ext cx="5035164" cy="4119172"/>
          </a:xfrm>
        </p:spPr>
        <p:txBody>
          <a:bodyPr anchor="t">
            <a:normAutofit/>
          </a:bodyPr>
          <a:lstStyle/>
          <a:p>
            <a:r>
              <a:rPr lang="en-GB" sz="2300" dirty="0"/>
              <a:t>CI/CD automates and standardizes software delivery</a:t>
            </a:r>
          </a:p>
          <a:p>
            <a:r>
              <a:rPr lang="en-GB" sz="2300" dirty="0"/>
              <a:t>Early testing reduces risk and cost</a:t>
            </a:r>
          </a:p>
          <a:p>
            <a:r>
              <a:rPr lang="en-GB" sz="2300" dirty="0"/>
              <a:t>Pipelines enable faster and more reliable releases</a:t>
            </a:r>
          </a:p>
          <a:p>
            <a:r>
              <a:rPr lang="en-GB" sz="2300" dirty="0"/>
              <a:t>CI/CD is NOT just another tool</a:t>
            </a:r>
          </a:p>
        </p:txBody>
      </p:sp>
      <p:pic>
        <p:nvPicPr>
          <p:cNvPr id="9218" name="Picture 2" descr="Conclusión - Iconos gratis de tecnología">
            <a:extLst>
              <a:ext uri="{FF2B5EF4-FFF2-40B4-BE49-F238E27FC236}">
                <a16:creationId xmlns:a16="http://schemas.microsoft.com/office/drawing/2014/main" id="{A265121F-C10E-6046-E8FC-AC1D92AA41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81" r="11065"/>
          <a:stretch>
            <a:fillRect/>
          </a:stretch>
        </p:blipFill>
        <p:spPr bwMode="auto">
          <a:xfrm>
            <a:off x="5756743" y="2093976"/>
            <a:ext cx="2955798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70" name="Rectangle 1026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D65FF31-F0A8-0B83-5D53-0E81259A6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r>
              <a:rPr lang="en-RO" sz="4700" dirty="0"/>
              <a:t>Demo Time</a:t>
            </a:r>
          </a:p>
        </p:txBody>
      </p:sp>
      <p:sp>
        <p:nvSpPr>
          <p:cNvPr id="1027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C48B668-F869-4B3E-0355-D2ADEE9463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924" y="2225040"/>
            <a:ext cx="7778489" cy="255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9275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12" name="Rectangle 8211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137BA94-C7A5-1157-28C3-20272B1E1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r>
              <a:rPr lang="en-RO" sz="4700" dirty="0"/>
              <a:t>YOU’RE ALMOST THERE!</a:t>
            </a:r>
          </a:p>
        </p:txBody>
      </p:sp>
      <p:sp>
        <p:nvSpPr>
          <p:cNvPr id="8213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6" descr="19,800+ Almost There Stock Photos, Pictures &amp; Royalty-Free Images - iStock">
            <a:extLst>
              <a:ext uri="{FF2B5EF4-FFF2-40B4-BE49-F238E27FC236}">
                <a16:creationId xmlns:a16="http://schemas.microsoft.com/office/drawing/2014/main" id="{4FAAEAE2-58A0-B3E4-0B96-8EDF144C93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148" r="7836" b="-1"/>
          <a:stretch>
            <a:fillRect/>
          </a:stretch>
        </p:blipFill>
        <p:spPr bwMode="auto">
          <a:xfrm>
            <a:off x="5756743" y="2093976"/>
            <a:ext cx="2955798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858FDD82-27A2-8217-F0C1-320E64CDF9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7482405"/>
              </p:ext>
            </p:extLst>
          </p:nvPr>
        </p:nvGraphicFramePr>
        <p:xfrm>
          <a:off x="628650" y="1911493"/>
          <a:ext cx="8513064" cy="42654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Down Arrow 13">
            <a:extLst>
              <a:ext uri="{FF2B5EF4-FFF2-40B4-BE49-F238E27FC236}">
                <a16:creationId xmlns:a16="http://schemas.microsoft.com/office/drawing/2014/main" id="{BAABF9CA-2C47-7209-509A-7E08CB63B1DE}"/>
              </a:ext>
            </a:extLst>
          </p:cNvPr>
          <p:cNvSpPr/>
          <p:nvPr/>
        </p:nvSpPr>
        <p:spPr>
          <a:xfrm>
            <a:off x="3545840" y="3281681"/>
            <a:ext cx="322072" cy="42616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57A5AB-2008-F3CB-9FA0-F04FE787AA92}"/>
              </a:ext>
            </a:extLst>
          </p:cNvPr>
          <p:cNvSpPr txBox="1"/>
          <p:nvPr/>
        </p:nvSpPr>
        <p:spPr>
          <a:xfrm>
            <a:off x="2567534" y="4765039"/>
            <a:ext cx="8197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O" sz="800" b="1" dirty="0"/>
              <a:t>AWARENESS</a:t>
            </a:r>
          </a:p>
        </p:txBody>
      </p:sp>
    </p:spTree>
    <p:extLst>
      <p:ext uri="{BB962C8B-B14F-4D97-AF65-F5344CB8AC3E}">
        <p14:creationId xmlns:p14="http://schemas.microsoft.com/office/powerpoint/2010/main" val="37372350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804DF3-AB39-B12F-8471-9B50A68F9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4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3B8105F-7FA9-42BD-E875-BEC4A1BD8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FEEDBACK TIME</a:t>
            </a:r>
            <a:endParaRPr lang="en-US" sz="31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244" name="Picture 4" descr="sign-with-the-word-help-in-a-hand-icon-vector-9381725">
            <a:extLst>
              <a:ext uri="{FF2B5EF4-FFF2-40B4-BE49-F238E27FC236}">
                <a16:creationId xmlns:a16="http://schemas.microsoft.com/office/drawing/2014/main" id="{E0DC1875-33FE-50B3-13D1-0888DC6CE0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00940" y="643466"/>
            <a:ext cx="5049619" cy="5568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48037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83FB77-544A-1F23-C8DC-D64BE5081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47" name="Rectangle 10246">
            <a:extLst>
              <a:ext uri="{FF2B5EF4-FFF2-40B4-BE49-F238E27FC236}">
                <a16:creationId xmlns:a16="http://schemas.microsoft.com/office/drawing/2014/main" id="{C230D1B7-DCD3-2B5C-9C8C-3FF359CB7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E2CDF34-888C-E14D-F7EC-804E373ED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289" y="665653"/>
            <a:ext cx="3538487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700" dirty="0"/>
              <a:t>YOU NEED TO     </a:t>
            </a:r>
            <a:r>
              <a:rPr lang="en-US" sz="6000" b="1" dirty="0">
                <a:solidFill>
                  <a:schemeClr val="accent2"/>
                </a:solidFill>
              </a:rPr>
              <a:t>PRACTICE!</a:t>
            </a:r>
          </a:p>
        </p:txBody>
      </p:sp>
      <p:sp>
        <p:nvSpPr>
          <p:cNvPr id="10249" name="sketchy line">
            <a:extLst>
              <a:ext uri="{FF2B5EF4-FFF2-40B4-BE49-F238E27FC236}">
                <a16:creationId xmlns:a16="http://schemas.microsoft.com/office/drawing/2014/main" id="{58F94C03-F545-C9E9-F6BD-83539A3DD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7753" y="4409267"/>
            <a:ext cx="2606040" cy="18288"/>
          </a:xfrm>
          <a:custGeom>
            <a:avLst/>
            <a:gdLst>
              <a:gd name="csX0" fmla="*/ 0 w 2606040"/>
              <a:gd name="csY0" fmla="*/ 0 h 18288"/>
              <a:gd name="csX1" fmla="*/ 625450 w 2606040"/>
              <a:gd name="csY1" fmla="*/ 0 h 18288"/>
              <a:gd name="csX2" fmla="*/ 1224839 w 2606040"/>
              <a:gd name="csY2" fmla="*/ 0 h 18288"/>
              <a:gd name="csX3" fmla="*/ 1824228 w 2606040"/>
              <a:gd name="csY3" fmla="*/ 0 h 18288"/>
              <a:gd name="csX4" fmla="*/ 2606040 w 2606040"/>
              <a:gd name="csY4" fmla="*/ 0 h 18288"/>
              <a:gd name="csX5" fmla="*/ 2606040 w 2606040"/>
              <a:gd name="csY5" fmla="*/ 18288 h 18288"/>
              <a:gd name="csX6" fmla="*/ 1902409 w 2606040"/>
              <a:gd name="csY6" fmla="*/ 18288 h 18288"/>
              <a:gd name="csX7" fmla="*/ 1276960 w 2606040"/>
              <a:gd name="csY7" fmla="*/ 18288 h 18288"/>
              <a:gd name="csX8" fmla="*/ 677570 w 2606040"/>
              <a:gd name="csY8" fmla="*/ 18288 h 18288"/>
              <a:gd name="csX9" fmla="*/ 0 w 2606040"/>
              <a:gd name="csY9" fmla="*/ 18288 h 18288"/>
              <a:gd name="csX10" fmla="*/ 0 w 2606040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42" name="Picture 2" descr="Download Point, Hand, Pointing. Royalty-Free Stock Illustration Image -  Pixabay">
            <a:extLst>
              <a:ext uri="{FF2B5EF4-FFF2-40B4-BE49-F238E27FC236}">
                <a16:creationId xmlns:a16="http://schemas.microsoft.com/office/drawing/2014/main" id="{FB545965-49A1-1DB6-C05C-D8628999C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5" r="10418"/>
          <a:stretch>
            <a:fillRect/>
          </a:stretch>
        </p:blipFill>
        <p:spPr bwMode="auto"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9599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7D136A-7057-7290-93BE-8349D2759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329" name="Rectangle 1232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290" name="Picture 2" descr="Help Images - Free Download on Freepik">
            <a:extLst>
              <a:ext uri="{FF2B5EF4-FFF2-40B4-BE49-F238E27FC236}">
                <a16:creationId xmlns:a16="http://schemas.microsoft.com/office/drawing/2014/main" id="{06746213-4036-2053-A518-59EE342EC6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6" t="6484" r="25270" b="2"/>
          <a:stretch>
            <a:fillRect/>
          </a:stretch>
        </p:blipFill>
        <p:spPr bwMode="auto">
          <a:xfrm>
            <a:off x="2642616" y="10"/>
            <a:ext cx="6501384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331" name="Rectangle 1233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7004404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CB01CDA-E2FD-1C93-BC6A-17D6D0989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485" y="1122363"/>
            <a:ext cx="301752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b="1" dirty="0">
                <a:solidFill>
                  <a:schemeClr val="bg1"/>
                </a:solidFill>
              </a:rPr>
              <a:t>I WANT TO HELP YOU PRACTICE </a:t>
            </a:r>
            <a:r>
              <a:rPr lang="en-US" sz="4200" dirty="0">
                <a:solidFill>
                  <a:schemeClr val="bg1"/>
                </a:solidFill>
              </a:rPr>
              <a:t>🙏</a:t>
            </a:r>
          </a:p>
        </p:txBody>
      </p:sp>
      <p:sp>
        <p:nvSpPr>
          <p:cNvPr id="12333" name="Rectangle 1233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335" name="Rectangle 1233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298323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9783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72FF0E-DFB8-0FA4-285E-587C279A9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64" name="Rectangle 10263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04522A-F22B-2BD5-5DC3-0E19802CD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35" y="560881"/>
            <a:ext cx="7346729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500" dirty="0"/>
              <a:t>Workshop Sneak Peak 👀</a:t>
            </a:r>
          </a:p>
        </p:txBody>
      </p:sp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A4AA6979-1788-4C31-B34C-FDA2165E1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660" y="2417328"/>
            <a:ext cx="4371196" cy="1232868"/>
          </a:xfrm>
          <a:prstGeom prst="rect">
            <a:avLst/>
          </a:prstGeom>
        </p:spPr>
      </p:pic>
      <p:pic>
        <p:nvPicPr>
          <p:cNvPr id="8" name="Picture 7" descr="A close up of text&#10;&#10;AI-generated content may be incorrect.">
            <a:extLst>
              <a:ext uri="{FF2B5EF4-FFF2-40B4-BE49-F238E27FC236}">
                <a16:creationId xmlns:a16="http://schemas.microsoft.com/office/drawing/2014/main" id="{3006B8D4-8B6F-98F3-41D7-03B4C483B1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6431" y="4289626"/>
            <a:ext cx="5845282" cy="964472"/>
          </a:xfrm>
          <a:prstGeom prst="rect">
            <a:avLst/>
          </a:prstGeom>
        </p:spPr>
      </p:pic>
      <p:pic>
        <p:nvPicPr>
          <p:cNvPr id="1026" name="Picture 2" descr="Java In Use 2020 Beyond | Oracle University">
            <a:extLst>
              <a:ext uri="{FF2B5EF4-FFF2-40B4-BE49-F238E27FC236}">
                <a16:creationId xmlns:a16="http://schemas.microsoft.com/office/drawing/2014/main" id="{E858CE3F-B082-BC00-DD63-06E338D2ED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456316" y="1738612"/>
            <a:ext cx="1729252" cy="2112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ocker Hub: Centralized management of Docker images">
            <a:extLst>
              <a:ext uri="{FF2B5EF4-FFF2-40B4-BE49-F238E27FC236}">
                <a16:creationId xmlns:a16="http://schemas.microsoft.com/office/drawing/2014/main" id="{C67B1DF7-4543-F072-61F4-6A7F42BC60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259" y="3850904"/>
            <a:ext cx="1822346" cy="1822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94858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BDE501-9BED-F43E-70C7-2F80226E9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319" name="Rectangle 13318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21" name="Right Triangle 13320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323" name="Rectangle 13322">
            <a:extLst>
              <a:ext uri="{FF2B5EF4-FFF2-40B4-BE49-F238E27FC236}">
                <a16:creationId xmlns:a16="http://schemas.microsoft.com/office/drawing/2014/main" id="{C37E9D4B-7BFA-4D10-B666-547BAC499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314" name="Picture 2" descr="A big thank you | Love from Me">
            <a:extLst>
              <a:ext uri="{FF2B5EF4-FFF2-40B4-BE49-F238E27FC236}">
                <a16:creationId xmlns:a16="http://schemas.microsoft.com/office/drawing/2014/main" id="{62D8C670-98CF-A5E1-A5E6-4340D0862D7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1330" y="441127"/>
            <a:ext cx="8178790" cy="578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2767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985</TotalTime>
  <Words>373</Words>
  <Application>Microsoft Macintosh PowerPoint</Application>
  <PresentationFormat>On-screen Show (4:3)</PresentationFormat>
  <Paragraphs>72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Wingdings</vt:lpstr>
      <vt:lpstr>Office 2013 - 2022 Theme</vt:lpstr>
      <vt:lpstr>Introduction to CI/CD Pipelines</vt:lpstr>
      <vt:lpstr>Who am I?</vt:lpstr>
      <vt:lpstr>Software DevOps Engineer? 🤔 </vt:lpstr>
      <vt:lpstr>THE PARETO PRINCIPLE</vt:lpstr>
      <vt:lpstr>PowerPoint Presentation</vt:lpstr>
      <vt:lpstr>PowerPoint Presentation</vt:lpstr>
      <vt:lpstr>What is CI/CD?</vt:lpstr>
      <vt:lpstr>Why CI/CD Matters</vt:lpstr>
      <vt:lpstr>Continuous Integration (CI)</vt:lpstr>
      <vt:lpstr>Continuous Delivery vs Continuous Deployment</vt:lpstr>
      <vt:lpstr>What is a CI/CD Pipeline?</vt:lpstr>
      <vt:lpstr>Continuous Integration, Delivery and Deployment</vt:lpstr>
      <vt:lpstr>Common CI/CD Tools</vt:lpstr>
      <vt:lpstr>Key Takeaways</vt:lpstr>
      <vt:lpstr>Demo Time</vt:lpstr>
      <vt:lpstr>YOU’RE ALMOST THERE!</vt:lpstr>
      <vt:lpstr>FEEDBACK TIME</vt:lpstr>
      <vt:lpstr>YOU NEED TO     PRACTICE!</vt:lpstr>
      <vt:lpstr>I WANT TO HELP YOU PRACTICE 🙏</vt:lpstr>
      <vt:lpstr>Workshop Sneak Peak 👀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Şerban-Mihai HARLES (109878)</cp:lastModifiedBy>
  <cp:revision>155</cp:revision>
  <dcterms:created xsi:type="dcterms:W3CDTF">2013-01-27T09:14:16Z</dcterms:created>
  <dcterms:modified xsi:type="dcterms:W3CDTF">2026-01-08T20:04:21Z</dcterms:modified>
  <cp:category/>
</cp:coreProperties>
</file>